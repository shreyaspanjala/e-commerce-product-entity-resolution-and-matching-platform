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927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project is a Mini Search Engine that indexes and searches files efficiently using two data structures — the AVL Tree and the B-Tree. I'll walk through the problem, the design, and how it works.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 checking files one by one gets slower as the collection grows. My project instead builds an index using AVL and B-Trees, so lookups stay fast even as the number of files increases. That's the core idea of the abstract.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search engine's real work happens before you even type a query — that's indexing. Instead of scanning every file for every search, we build an index once using AVL and B-Trees, and then every search just walks that structure: files go in, get indexed, and a query quickly finds its matches.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simple, standard requirements — any laptop or desktop capable of running Java and an IDE is enough. Nothing specialised is needed to build or run this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looked at how file searching is traditionally done — plain linear search, then binary search trees. A BST is good, but it can become unbalanced and slow down to linear time. That's exactly why this project uses AVL and B-Trees instead, since both guarantee balance.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workflow: files come in, we process and index them, and that index is built using AVL and B-Trees. When a user searches, we don't scan the files again — we search the tree directly, which is what makes it fast, and then return the matches.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AVL Tree keeps itself balanced automatically — after every insertion, if one side gets taller than the other by more than one level, it rotates nodes to fix that. That's why search always stays close to log n, no matter how the files were inserted.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AVL where each node has one value, a B-Tree node can hold several keys at once. That means fewer levels overall, which is exactly why B-Trees are used for large indexes — you reach the right file in very few steps.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14400" y="914400"/>
            <a:ext cx="82296" cy="82296"/>
          </a:xfrm>
          <a:prstGeom prst="ellipse">
            <a:avLst/>
          </a:prstGeom>
          <a:solidFill>
            <a:srgbClr val="31407A"/>
          </a:solidFill>
          <a:ln/>
        </p:spPr>
        <p:txBody>
          <a:bodyPr/>
          <a:lstStyle/>
          <a:p>
            <a:endParaRPr/>
          </a:p>
        </p:txBody>
      </p:sp>
      <p:sp>
        <p:nvSpPr>
          <p:cNvPr id="3" name="Shape 1"/>
          <p:cNvSpPr/>
          <p:nvPr/>
        </p:nvSpPr>
        <p:spPr>
          <a:xfrm>
            <a:off x="1463040" y="1463040"/>
            <a:ext cx="82296" cy="82296"/>
          </a:xfrm>
          <a:prstGeom prst="ellipse">
            <a:avLst/>
          </a:prstGeom>
          <a:solidFill>
            <a:srgbClr val="31407A"/>
          </a:solidFill>
          <a:ln/>
        </p:spPr>
        <p:txBody>
          <a:bodyPr/>
          <a:lstStyle/>
          <a:p>
            <a:endParaRPr/>
          </a:p>
        </p:txBody>
      </p:sp>
      <p:sp>
        <p:nvSpPr>
          <p:cNvPr id="4" name="Shape 2"/>
          <p:cNvSpPr/>
          <p:nvPr/>
        </p:nvSpPr>
        <p:spPr>
          <a:xfrm>
            <a:off x="1005840" y="2194560"/>
            <a:ext cx="82296" cy="82296"/>
          </a:xfrm>
          <a:prstGeom prst="ellipse">
            <a:avLst/>
          </a:prstGeom>
          <a:solidFill>
            <a:srgbClr val="31407A"/>
          </a:solidFill>
          <a:ln/>
        </p:spPr>
        <p:txBody>
          <a:bodyPr/>
          <a:lstStyle/>
          <a:p>
            <a:endParaRPr/>
          </a:p>
        </p:txBody>
      </p:sp>
      <p:sp>
        <p:nvSpPr>
          <p:cNvPr id="5" name="Shape 3"/>
          <p:cNvSpPr/>
          <p:nvPr/>
        </p:nvSpPr>
        <p:spPr>
          <a:xfrm>
            <a:off x="1737360" y="640080"/>
            <a:ext cx="82296" cy="82296"/>
          </a:xfrm>
          <a:prstGeom prst="ellipse">
            <a:avLst/>
          </a:prstGeom>
          <a:solidFill>
            <a:srgbClr val="31407A"/>
          </a:solidFill>
          <a:ln/>
        </p:spPr>
        <p:txBody>
          <a:bodyPr/>
          <a:lstStyle/>
          <a:p>
            <a:endParaRPr/>
          </a:p>
        </p:txBody>
      </p:sp>
      <p:sp>
        <p:nvSpPr>
          <p:cNvPr id="6" name="Shape 4"/>
          <p:cNvSpPr/>
          <p:nvPr/>
        </p:nvSpPr>
        <p:spPr>
          <a:xfrm>
            <a:off x="2194560" y="1828800"/>
            <a:ext cx="82296" cy="82296"/>
          </a:xfrm>
          <a:prstGeom prst="ellipse">
            <a:avLst/>
          </a:prstGeom>
          <a:solidFill>
            <a:srgbClr val="31407A"/>
          </a:solidFill>
          <a:ln/>
        </p:spPr>
        <p:txBody>
          <a:bodyPr/>
          <a:lstStyle/>
          <a:p>
            <a:endParaRPr/>
          </a:p>
        </p:txBody>
      </p:sp>
      <p:sp>
        <p:nvSpPr>
          <p:cNvPr id="7" name="Shape 5"/>
          <p:cNvSpPr/>
          <p:nvPr/>
        </p:nvSpPr>
        <p:spPr>
          <a:xfrm>
            <a:off x="10424160" y="1005840"/>
            <a:ext cx="82296" cy="82296"/>
          </a:xfrm>
          <a:prstGeom prst="ellipse">
            <a:avLst/>
          </a:prstGeom>
          <a:solidFill>
            <a:srgbClr val="31407A"/>
          </a:solidFill>
          <a:ln/>
        </p:spPr>
        <p:txBody>
          <a:bodyPr/>
          <a:lstStyle/>
          <a:p>
            <a:endParaRPr/>
          </a:p>
        </p:txBody>
      </p:sp>
      <p:sp>
        <p:nvSpPr>
          <p:cNvPr id="8" name="Shape 6"/>
          <p:cNvSpPr/>
          <p:nvPr/>
        </p:nvSpPr>
        <p:spPr>
          <a:xfrm>
            <a:off x="10972800" y="1737360"/>
            <a:ext cx="82296" cy="82296"/>
          </a:xfrm>
          <a:prstGeom prst="ellipse">
            <a:avLst/>
          </a:prstGeom>
          <a:solidFill>
            <a:srgbClr val="31407A"/>
          </a:solidFill>
          <a:ln/>
        </p:spPr>
        <p:txBody>
          <a:bodyPr/>
          <a:lstStyle/>
          <a:p>
            <a:endParaRPr/>
          </a:p>
        </p:txBody>
      </p:sp>
      <p:sp>
        <p:nvSpPr>
          <p:cNvPr id="9" name="Shape 7"/>
          <p:cNvSpPr/>
          <p:nvPr/>
        </p:nvSpPr>
        <p:spPr>
          <a:xfrm>
            <a:off x="10058400" y="2194560"/>
            <a:ext cx="82296" cy="82296"/>
          </a:xfrm>
          <a:prstGeom prst="ellipse">
            <a:avLst/>
          </a:prstGeom>
          <a:solidFill>
            <a:srgbClr val="31407A"/>
          </a:solidFill>
          <a:ln/>
        </p:spPr>
        <p:txBody>
          <a:bodyPr/>
          <a:lstStyle/>
          <a:p>
            <a:endParaRPr/>
          </a:p>
        </p:txBody>
      </p:sp>
      <p:sp>
        <p:nvSpPr>
          <p:cNvPr id="10" name="Shape 8"/>
          <p:cNvSpPr/>
          <p:nvPr/>
        </p:nvSpPr>
        <p:spPr>
          <a:xfrm>
            <a:off x="10698480" y="548640"/>
            <a:ext cx="82296" cy="82296"/>
          </a:xfrm>
          <a:prstGeom prst="ellipse">
            <a:avLst/>
          </a:prstGeom>
          <a:solidFill>
            <a:srgbClr val="31407A"/>
          </a:solidFill>
          <a:ln/>
        </p:spPr>
        <p:txBody>
          <a:bodyPr/>
          <a:lstStyle/>
          <a:p>
            <a:endParaRPr/>
          </a:p>
        </p:txBody>
      </p:sp>
      <p:sp>
        <p:nvSpPr>
          <p:cNvPr id="11" name="Shape 9"/>
          <p:cNvSpPr/>
          <p:nvPr/>
        </p:nvSpPr>
        <p:spPr>
          <a:xfrm>
            <a:off x="11247120" y="2743200"/>
            <a:ext cx="82296" cy="82296"/>
          </a:xfrm>
          <a:prstGeom prst="ellipse">
            <a:avLst/>
          </a:prstGeom>
          <a:solidFill>
            <a:srgbClr val="31407A"/>
          </a:solidFill>
          <a:ln/>
        </p:spPr>
        <p:txBody>
          <a:bodyPr/>
          <a:lstStyle/>
          <a:p>
            <a:endParaRPr/>
          </a:p>
        </p:txBody>
      </p:sp>
      <p:sp>
        <p:nvSpPr>
          <p:cNvPr id="14" name="Text 11"/>
          <p:cNvSpPr/>
          <p:nvPr/>
        </p:nvSpPr>
        <p:spPr>
          <a:xfrm>
            <a:off x="457200" y="2331720"/>
            <a:ext cx="11274552" cy="320040"/>
          </a:xfrm>
          <a:prstGeom prst="rect">
            <a:avLst/>
          </a:prstGeom>
          <a:noFill/>
          <a:ln/>
        </p:spPr>
        <p:txBody>
          <a:bodyPr wrap="square" rtlCol="0" anchor="ctr"/>
          <a:lstStyle/>
          <a:p>
            <a:pPr marL="0" indent="0" algn="ctr">
              <a:buNone/>
            </a:pPr>
            <a:endParaRPr lang="en-US" sz="1300" dirty="0"/>
          </a:p>
        </p:txBody>
      </p:sp>
      <p:sp>
        <p:nvSpPr>
          <p:cNvPr id="15" name="Text 12"/>
          <p:cNvSpPr/>
          <p:nvPr/>
        </p:nvSpPr>
        <p:spPr>
          <a:xfrm>
            <a:off x="457200" y="2697480"/>
            <a:ext cx="11274552" cy="914400"/>
          </a:xfrm>
          <a:prstGeom prst="rect">
            <a:avLst/>
          </a:prstGeom>
          <a:noFill/>
          <a:ln/>
        </p:spPr>
        <p:txBody>
          <a:bodyPr wrap="square" rtlCol="0" anchor="ctr"/>
          <a:lstStyle/>
          <a:p>
            <a:pPr marL="0" indent="0" algn="ctr">
              <a:buNone/>
            </a:pPr>
            <a:endParaRPr lang="en-US" sz="4600" dirty="0"/>
          </a:p>
        </p:txBody>
      </p:sp>
      <p:sp>
        <p:nvSpPr>
          <p:cNvPr id="16" name="Shape 13"/>
          <p:cNvSpPr/>
          <p:nvPr/>
        </p:nvSpPr>
        <p:spPr>
          <a:xfrm>
            <a:off x="5271516" y="3639312"/>
            <a:ext cx="1645920" cy="41148"/>
          </a:xfrm>
          <a:prstGeom prst="rect">
            <a:avLst/>
          </a:prstGeom>
          <a:solidFill>
            <a:srgbClr val="FFC145"/>
          </a:solidFill>
          <a:ln/>
        </p:spPr>
        <p:txBody>
          <a:bodyPr/>
          <a:lstStyle/>
          <a:p>
            <a:endParaRPr/>
          </a:p>
        </p:txBody>
      </p:sp>
      <p:sp>
        <p:nvSpPr>
          <p:cNvPr id="17" name="Text 14"/>
          <p:cNvSpPr/>
          <p:nvPr/>
        </p:nvSpPr>
        <p:spPr>
          <a:xfrm>
            <a:off x="457200" y="3794760"/>
            <a:ext cx="11274552" cy="457200"/>
          </a:xfrm>
          <a:prstGeom prst="rect">
            <a:avLst/>
          </a:prstGeom>
          <a:noFill/>
          <a:ln/>
        </p:spPr>
        <p:txBody>
          <a:bodyPr wrap="square" rtlCol="0" anchor="ctr"/>
          <a:lstStyle/>
          <a:p>
            <a:pPr marL="0" indent="0" algn="ctr">
              <a:buNone/>
            </a:pPr>
            <a:endParaRPr lang="en-US" sz="1800" dirty="0"/>
          </a:p>
        </p:txBody>
      </p:sp>
      <p:sp>
        <p:nvSpPr>
          <p:cNvPr id="18" name="Text 15"/>
          <p:cNvSpPr/>
          <p:nvPr/>
        </p:nvSpPr>
        <p:spPr>
          <a:xfrm>
            <a:off x="8808098" y="3680460"/>
            <a:ext cx="2923654" cy="2674620"/>
          </a:xfrm>
          <a:prstGeom prst="rect">
            <a:avLst/>
          </a:prstGeom>
          <a:noFill/>
          <a:ln/>
        </p:spPr>
        <p:txBody>
          <a:bodyPr wrap="square" rtlCol="0" anchor="ctr"/>
          <a:lstStyle/>
          <a:p>
            <a:pPr marL="0" indent="0" algn="ctr">
              <a:buNone/>
            </a:pPr>
            <a:endParaRPr lang="en-US" sz="1600" dirty="0">
              <a:solidFill>
                <a:srgbClr val="8C97C4"/>
              </a:solidFill>
              <a:latin typeface="Calibri" pitchFamily="34" charset="0"/>
              <a:ea typeface="Calibri" pitchFamily="34" charset="-122"/>
              <a:cs typeface="Calibri" pitchFamily="34" charset="-120"/>
            </a:endParaRPr>
          </a:p>
        </p:txBody>
      </p:sp>
      <p:sp>
        <p:nvSpPr>
          <p:cNvPr id="19" name="TextBox 18"/>
          <p:cNvSpPr txBox="1"/>
          <p:nvPr/>
        </p:nvSpPr>
        <p:spPr>
          <a:xfrm>
            <a:off x="649224" y="1645920"/>
            <a:ext cx="10323576" cy="892552"/>
          </a:xfrm>
          <a:prstGeom prst="rect">
            <a:avLst/>
          </a:prstGeom>
          <a:noFill/>
        </p:spPr>
        <p:txBody>
          <a:bodyPr wrap="square">
            <a:spAutoFit/>
          </a:bodyPr>
          <a:lstStyle/>
          <a:p>
            <a:pPr>
              <a:defRPr sz="2600" b="1">
                <a:latin typeface="Aptos Display"/>
              </a:defRPr>
            </a:pPr>
            <a:r>
              <a:rPr dirty="0">
                <a:solidFill>
                  <a:schemeClr val="bg1"/>
                </a:solidFill>
                <a:latin typeface="Times New Roman" panose="02020603050405020304" pitchFamily="18" charset="0"/>
                <a:cs typeface="Times New Roman" panose="02020603050405020304" pitchFamily="18" charset="0"/>
              </a:rPr>
              <a:t>E-COMMERCE PRODUCT ENTITY RESOLUTION</a:t>
            </a:r>
            <a:br>
              <a:rPr dirty="0">
                <a:solidFill>
                  <a:schemeClr val="bg1"/>
                </a:solidFill>
                <a:latin typeface="Times New Roman" panose="02020603050405020304" pitchFamily="18" charset="0"/>
                <a:cs typeface="Times New Roman" panose="02020603050405020304" pitchFamily="18" charset="0"/>
              </a:rPr>
            </a:br>
            <a:r>
              <a:rPr dirty="0">
                <a:solidFill>
                  <a:schemeClr val="bg1"/>
                </a:solidFill>
                <a:latin typeface="Times New Roman" panose="02020603050405020304" pitchFamily="18" charset="0"/>
                <a:cs typeface="Times New Roman" panose="02020603050405020304" pitchFamily="18" charset="0"/>
              </a:rPr>
              <a:t>AND MATCHING PLATFORM</a:t>
            </a:r>
          </a:p>
        </p:txBody>
      </p:sp>
      <p:sp>
        <p:nvSpPr>
          <p:cNvPr id="22" name="TextBox 21"/>
          <p:cNvSpPr txBox="1"/>
          <p:nvPr/>
        </p:nvSpPr>
        <p:spPr>
          <a:xfrm>
            <a:off x="731520" y="6400800"/>
            <a:ext cx="2662908" cy="223138"/>
          </a:xfrm>
          <a:prstGeom prst="rect">
            <a:avLst/>
          </a:prstGeom>
          <a:noFill/>
        </p:spPr>
        <p:txBody>
          <a:bodyPr wrap="none">
            <a:spAutoFit/>
          </a:bodyPr>
          <a:lstStyle/>
          <a:p>
            <a:pPr>
              <a:defRPr sz="850">
                <a:latin typeface="Aptos"/>
              </a:defRPr>
            </a:pPr>
            <a:r>
              <a:rPr dirty="0">
                <a:solidFill>
                  <a:schemeClr val="bg1"/>
                </a:solidFill>
              </a:rPr>
              <a:t>Shreyas Panjala 2520080001  |  Team 43  |  Section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txBody>
          <a:bodyPr/>
          <a:lstStyle/>
          <a:p>
            <a:endParaRPr/>
          </a:p>
        </p:txBody>
      </p:sp>
      <p:pic>
        <p:nvPicPr>
          <p:cNvPr id="3" name="Image 0" descr="/home/claude/proj/icons/search.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defRPr sz="2600" b="1">
                <a:latin typeface="Aptos Display"/>
              </a:defRPr>
            </a:pPr>
            <a:r>
              <a:rPr dirty="0"/>
              <a:t>PROJECT SUMMARY</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defRPr sz="1200" b="1">
                <a:latin typeface="Aptos"/>
              </a:defRPr>
            </a:pP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txBody>
          <a:bodyPr/>
          <a:lstStyle/>
          <a:p>
            <a:endParaRPr/>
          </a:p>
        </p:txBody>
      </p:sp>
      <p:sp>
        <p:nvSpPr>
          <p:cNvPr id="7" name="Text 4"/>
          <p:cNvSpPr/>
          <p:nvPr/>
        </p:nvSpPr>
        <p:spPr>
          <a:xfrm>
            <a:off x="502920" y="6528816"/>
            <a:ext cx="7315200" cy="274320"/>
          </a:xfrm>
          <a:prstGeom prst="rect">
            <a:avLst/>
          </a:prstGeom>
          <a:noFill/>
          <a:ln/>
        </p:spPr>
        <p:txBody>
          <a:bodyPr wrap="square" rtlCol="0" anchor="ctr"/>
          <a:lstStyle/>
          <a:p>
            <a:pPr marL="0" indent="0">
              <a:buNone/>
            </a:pP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endParaRPr lang="en-US" sz="900" dirty="0"/>
          </a:p>
        </p:txBody>
      </p:sp>
      <p:sp>
        <p:nvSpPr>
          <p:cNvPr id="9" name="Text 6"/>
          <p:cNvSpPr/>
          <p:nvPr/>
        </p:nvSpPr>
        <p:spPr>
          <a:xfrm>
            <a:off x="502920" y="1600200"/>
            <a:ext cx="6537960" cy="4663440"/>
          </a:xfrm>
          <a:prstGeom prst="rect">
            <a:avLst/>
          </a:prstGeom>
          <a:noFill/>
          <a:ln/>
        </p:spPr>
        <p:txBody>
          <a:bodyPr wrap="square" rtlCol="0" anchor="t"/>
          <a:lstStyle/>
          <a:p>
            <a:pPr marL="285750" indent="-285750">
              <a:lnSpc>
                <a:spcPct val="115000"/>
              </a:lnSpc>
              <a:spcAft>
                <a:spcPts val="1200"/>
              </a:spcAft>
              <a:buSzPct val="100000"/>
              <a:buFont typeface="Arial" panose="020B0604020202020204" pitchFamily="34" charset="0"/>
              <a:buChar char="•"/>
              <a:defRPr sz="1700">
                <a:latin typeface="Aptos"/>
              </a:defRPr>
            </a:pPr>
            <a:r>
              <a:rPr dirty="0"/>
              <a:t>Different sellers may list the same product using varying names, descriptions, and specifications.</a:t>
            </a:r>
            <a:endParaRPr lang="en-US" sz="1500" dirty="0"/>
          </a:p>
          <a:p>
            <a:pPr>
              <a:spcAft>
                <a:spcPts val="1200"/>
              </a:spcAft>
              <a:defRPr sz="1700">
                <a:latin typeface="Aptos"/>
              </a:defRPr>
            </a:pPr>
            <a:r>
              <a:rPr dirty="0"/>
              <a:t>• The system identifies identical products and groups their listings </a:t>
            </a:r>
            <a:r>
              <a:rPr lang="en-IN" dirty="0"/>
              <a:t> </a:t>
            </a:r>
            <a:r>
              <a:rPr dirty="0"/>
              <a:t>into a unified product catalog.</a:t>
            </a:r>
          </a:p>
          <a:p>
            <a:pPr>
              <a:spcAft>
                <a:spcPts val="1200"/>
              </a:spcAft>
              <a:defRPr sz="1700">
                <a:latin typeface="Aptos"/>
              </a:defRPr>
            </a:pPr>
            <a:r>
              <a:rPr dirty="0"/>
              <a:t>• This enables accurate product search, duplicate detection, price comparison, and better customer decision-making.</a:t>
            </a:r>
          </a:p>
          <a:p>
            <a:pPr>
              <a:spcAft>
                <a:spcPts val="1200"/>
              </a:spcAft>
              <a:defRPr sz="1700">
                <a:latin typeface="Aptos"/>
              </a:defRPr>
            </a:pPr>
            <a:r>
              <a:rPr dirty="0"/>
              <a:t>• The project combines multiple DSA techniques to make matching efficient, accurate, and scalable.</a:t>
            </a:r>
          </a:p>
        </p:txBody>
      </p:sp>
      <p:sp>
        <p:nvSpPr>
          <p:cNvPr id="11" name="Text 8"/>
          <p:cNvSpPr/>
          <p:nvPr/>
        </p:nvSpPr>
        <p:spPr>
          <a:xfrm>
            <a:off x="7635240" y="1828800"/>
            <a:ext cx="3749040" cy="274320"/>
          </a:xfrm>
          <a:prstGeom prst="rect">
            <a:avLst/>
          </a:prstGeom>
          <a:noFill/>
          <a:ln/>
        </p:spPr>
        <p:txBody>
          <a:bodyPr wrap="square" rtlCol="0" anchor="ctr"/>
          <a:lstStyle/>
          <a:p>
            <a:pPr marL="0" indent="0">
              <a:buNone/>
            </a:pPr>
            <a:endParaRPr lang="en-US" sz="1100" dirty="0"/>
          </a:p>
        </p:txBody>
      </p:sp>
      <p:sp>
        <p:nvSpPr>
          <p:cNvPr id="12" name="Text 9"/>
          <p:cNvSpPr/>
          <p:nvPr/>
        </p:nvSpPr>
        <p:spPr>
          <a:xfrm>
            <a:off x="7635240" y="2240280"/>
            <a:ext cx="3749040" cy="320040"/>
          </a:xfrm>
          <a:prstGeom prst="rect">
            <a:avLst/>
          </a:prstGeom>
          <a:noFill/>
          <a:ln/>
        </p:spPr>
        <p:txBody>
          <a:bodyPr wrap="square" rtlCol="0" anchor="ctr"/>
          <a:lstStyle/>
          <a:p>
            <a:pPr marL="0" indent="0">
              <a:buNone/>
            </a:pPr>
            <a:endParaRPr lang="en-US" sz="1400" dirty="0"/>
          </a:p>
        </p:txBody>
      </p:sp>
      <p:sp>
        <p:nvSpPr>
          <p:cNvPr id="13" name="Text 10"/>
          <p:cNvSpPr/>
          <p:nvPr/>
        </p:nvSpPr>
        <p:spPr>
          <a:xfrm>
            <a:off x="9537192" y="3282695"/>
            <a:ext cx="3749040" cy="822960"/>
          </a:xfrm>
          <a:prstGeom prst="rect">
            <a:avLst/>
          </a:prstGeom>
          <a:noFill/>
          <a:ln/>
        </p:spPr>
        <p:txBody>
          <a:bodyPr wrap="square" rtlCol="0" anchor="ctr"/>
          <a:lstStyle/>
          <a:p>
            <a:pPr marL="0" indent="0">
              <a:buNone/>
            </a:pPr>
            <a:endParaRPr lang="en-US" sz="4600" dirty="0"/>
          </a:p>
        </p:txBody>
      </p:sp>
      <p:sp>
        <p:nvSpPr>
          <p:cNvPr id="15" name="Shape 12"/>
          <p:cNvSpPr/>
          <p:nvPr/>
        </p:nvSpPr>
        <p:spPr>
          <a:xfrm>
            <a:off x="7635240" y="3794760"/>
            <a:ext cx="3749040" cy="0"/>
          </a:xfrm>
          <a:prstGeom prst="line">
            <a:avLst/>
          </a:prstGeom>
          <a:noFill/>
          <a:ln w="12700">
            <a:solidFill>
              <a:srgbClr val="E3E8F2"/>
            </a:solidFill>
            <a:prstDash val="solid"/>
          </a:ln>
        </p:spPr>
        <p:txBody>
          <a:bodyPr/>
          <a:lstStyle/>
          <a:p>
            <a:endParaRPr/>
          </a:p>
        </p:txBody>
      </p:sp>
      <p:sp>
        <p:nvSpPr>
          <p:cNvPr id="16" name="Text 13"/>
          <p:cNvSpPr/>
          <p:nvPr/>
        </p:nvSpPr>
        <p:spPr>
          <a:xfrm>
            <a:off x="7635240" y="3977640"/>
            <a:ext cx="3749040" cy="320040"/>
          </a:xfrm>
          <a:prstGeom prst="rect">
            <a:avLst/>
          </a:prstGeom>
          <a:noFill/>
          <a:ln/>
        </p:spPr>
        <p:txBody>
          <a:bodyPr wrap="square" rtlCol="0" anchor="ctr"/>
          <a:lstStyle/>
          <a:p>
            <a:pPr marL="0" indent="0">
              <a:buNone/>
            </a:pPr>
            <a:endParaRPr lang="en-US" sz="1400" dirty="0"/>
          </a:p>
        </p:txBody>
      </p:sp>
      <p:sp>
        <p:nvSpPr>
          <p:cNvPr id="17" name="Text 14"/>
          <p:cNvSpPr/>
          <p:nvPr/>
        </p:nvSpPr>
        <p:spPr>
          <a:xfrm>
            <a:off x="7635240" y="4251960"/>
            <a:ext cx="3749040" cy="822960"/>
          </a:xfrm>
          <a:prstGeom prst="rect">
            <a:avLst/>
          </a:prstGeom>
          <a:noFill/>
          <a:ln/>
        </p:spPr>
        <p:txBody>
          <a:bodyPr wrap="square" rtlCol="0" anchor="ctr"/>
          <a:lstStyle/>
          <a:p>
            <a:pPr marL="0" indent="0">
              <a:buNone/>
            </a:pPr>
            <a:endParaRPr lang="en-US" sz="4600" dirty="0"/>
          </a:p>
        </p:txBody>
      </p:sp>
      <p:sp>
        <p:nvSpPr>
          <p:cNvPr id="18" name="Text 15"/>
          <p:cNvSpPr/>
          <p:nvPr/>
        </p:nvSpPr>
        <p:spPr>
          <a:xfrm>
            <a:off x="7635240" y="5029200"/>
            <a:ext cx="3749040" cy="320040"/>
          </a:xfrm>
          <a:prstGeom prst="rect">
            <a:avLst/>
          </a:prstGeom>
          <a:noFill/>
          <a:ln/>
        </p:spPr>
        <p:txBody>
          <a:bodyPr wrap="square" rtlCol="0" anchor="ctr"/>
          <a:lstStyle/>
          <a:p>
            <a:pPr marL="0" indent="0">
              <a:buNone/>
            </a:pPr>
            <a:endParaRPr lang="en-US" sz="1150" dirty="0"/>
          </a:p>
        </p:txBody>
      </p:sp>
      <p:sp>
        <p:nvSpPr>
          <p:cNvPr id="20" name="Text 17"/>
          <p:cNvSpPr/>
          <p:nvPr/>
        </p:nvSpPr>
        <p:spPr>
          <a:xfrm>
            <a:off x="7635240" y="5532120"/>
            <a:ext cx="3776472" cy="548640"/>
          </a:xfrm>
          <a:prstGeom prst="rect">
            <a:avLst/>
          </a:prstGeom>
          <a:noFill/>
          <a:ln/>
        </p:spPr>
        <p:txBody>
          <a:bodyPr wrap="square" rtlCol="0" anchor="ctr"/>
          <a:lstStyle/>
          <a:p>
            <a:pPr marL="0" indent="0" algn="ctr">
              <a:buNone/>
            </a:pPr>
            <a:endParaRPr lang="en-US" sz="1250" dirty="0"/>
          </a:p>
        </p:txBody>
      </p:sp>
      <p:sp>
        <p:nvSpPr>
          <p:cNvPr id="21" name="Rounded Rectangle 20"/>
          <p:cNvSpPr/>
          <p:nvPr/>
        </p:nvSpPr>
        <p:spPr>
          <a:xfrm>
            <a:off x="7498079" y="1874519"/>
            <a:ext cx="3566160" cy="777240"/>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latin typeface="Aptos"/>
              </a:defRPr>
            </a:pPr>
            <a:endParaRPr dirty="0">
              <a:solidFill>
                <a:schemeClr val="tx1"/>
              </a:solidFill>
            </a:endParaRPr>
          </a:p>
        </p:txBody>
      </p:sp>
      <p:sp>
        <p:nvSpPr>
          <p:cNvPr id="22" name="Rounded Rectangle 21"/>
          <p:cNvSpPr/>
          <p:nvPr/>
        </p:nvSpPr>
        <p:spPr>
          <a:xfrm>
            <a:off x="7498079" y="2926079"/>
            <a:ext cx="3566160" cy="777240"/>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latin typeface="Aptos"/>
              </a:defRPr>
            </a:pPr>
            <a:endParaRPr dirty="0">
              <a:solidFill>
                <a:schemeClr val="tx1"/>
              </a:solidFill>
            </a:endParaRPr>
          </a:p>
        </p:txBody>
      </p:sp>
      <p:sp>
        <p:nvSpPr>
          <p:cNvPr id="23" name="TextBox 22"/>
          <p:cNvSpPr txBox="1"/>
          <p:nvPr/>
        </p:nvSpPr>
        <p:spPr>
          <a:xfrm>
            <a:off x="731520" y="6400800"/>
            <a:ext cx="10789920" cy="228600"/>
          </a:xfrm>
          <a:prstGeom prst="rect">
            <a:avLst/>
          </a:prstGeom>
          <a:noFill/>
        </p:spPr>
        <p:txBody>
          <a:bodyPr wrap="none">
            <a:spAutoFit/>
          </a:bodyPr>
          <a:lstStyle/>
          <a:p>
            <a:pPr>
              <a:defRPr sz="850">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6865" y="163449"/>
            <a:ext cx="566928" cy="566928"/>
          </a:xfrm>
          <a:prstGeom prst="ellipse">
            <a:avLst/>
          </a:prstGeom>
          <a:solidFill>
            <a:srgbClr val="CADCFC"/>
          </a:solidFill>
          <a:ln/>
        </p:spPr>
        <p:txBody>
          <a:bodyPr/>
          <a:lstStyle/>
          <a:p>
            <a:endParaRPr/>
          </a:p>
        </p:txBody>
      </p:sp>
      <p:pic>
        <p:nvPicPr>
          <p:cNvPr id="3" name="Image 0" descr="/home/claude/proj/icons/sitemap.png"/>
          <p:cNvPicPr>
            <a:picLocks noChangeAspect="1"/>
          </p:cNvPicPr>
          <p:nvPr/>
        </p:nvPicPr>
        <p:blipFill>
          <a:blip r:embed="rId3"/>
          <a:stretch>
            <a:fillRect/>
          </a:stretch>
        </p:blipFill>
        <p:spPr>
          <a:xfrm>
            <a:off x="621335" y="22159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defRPr sz="2600" b="1">
                <a:latin typeface="Aptos Display"/>
              </a:defRPr>
            </a:pPr>
            <a:r>
              <a:rPr dirty="0"/>
              <a:t>PROBLEM STATEMENT</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defRPr sz="1200" b="1">
                <a:latin typeface="Aptos"/>
              </a:defRPr>
            </a:pP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txBody>
          <a:bodyPr/>
          <a:lstStyle/>
          <a:p>
            <a:endParaRPr/>
          </a:p>
        </p:txBody>
      </p:sp>
      <p:sp>
        <p:nvSpPr>
          <p:cNvPr id="7" name="Text 4"/>
          <p:cNvSpPr/>
          <p:nvPr/>
        </p:nvSpPr>
        <p:spPr>
          <a:xfrm>
            <a:off x="502920" y="6528816"/>
            <a:ext cx="7315200" cy="274320"/>
          </a:xfrm>
          <a:prstGeom prst="rect">
            <a:avLst/>
          </a:prstGeom>
          <a:noFill/>
          <a:ln/>
        </p:spPr>
        <p:txBody>
          <a:bodyPr wrap="square" rtlCol="0" anchor="ctr"/>
          <a:lstStyle/>
          <a:p>
            <a:pPr marL="0" indent="0">
              <a:buNone/>
            </a:pP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endParaRPr lang="en-US" sz="900" dirty="0"/>
          </a:p>
        </p:txBody>
      </p:sp>
      <p:sp>
        <p:nvSpPr>
          <p:cNvPr id="9" name="Shape 6"/>
          <p:cNvSpPr/>
          <p:nvPr/>
        </p:nvSpPr>
        <p:spPr>
          <a:xfrm>
            <a:off x="502920" y="1627632"/>
            <a:ext cx="146304" cy="146304"/>
          </a:xfrm>
          <a:prstGeom prst="ellipse">
            <a:avLst/>
          </a:prstGeom>
          <a:solidFill>
            <a:srgbClr val="FFC145"/>
          </a:solidFill>
          <a:ln/>
        </p:spPr>
        <p:txBody>
          <a:bodyPr/>
          <a:lstStyle/>
          <a:p>
            <a:endParaRPr/>
          </a:p>
        </p:txBody>
      </p:sp>
      <p:sp>
        <p:nvSpPr>
          <p:cNvPr id="10" name="Text 7"/>
          <p:cNvSpPr/>
          <p:nvPr/>
        </p:nvSpPr>
        <p:spPr>
          <a:xfrm>
            <a:off x="777240" y="1527048"/>
            <a:ext cx="6309360" cy="292608"/>
          </a:xfrm>
          <a:prstGeom prst="rect">
            <a:avLst/>
          </a:prstGeom>
          <a:noFill/>
          <a:ln/>
        </p:spPr>
        <p:txBody>
          <a:bodyPr wrap="square" rtlCol="0" anchor="ctr"/>
          <a:lstStyle/>
          <a:p>
            <a:pPr marL="0" indent="0">
              <a:buNone/>
            </a:pPr>
            <a:endParaRPr lang="en-US" sz="1450" dirty="0"/>
          </a:p>
        </p:txBody>
      </p:sp>
      <p:sp>
        <p:nvSpPr>
          <p:cNvPr id="11" name="Text 8"/>
          <p:cNvSpPr/>
          <p:nvPr/>
        </p:nvSpPr>
        <p:spPr>
          <a:xfrm>
            <a:off x="777240" y="1819656"/>
            <a:ext cx="6309360" cy="457200"/>
          </a:xfrm>
          <a:prstGeom prst="rect">
            <a:avLst/>
          </a:prstGeom>
          <a:noFill/>
          <a:ln/>
        </p:spPr>
        <p:txBody>
          <a:bodyPr wrap="square" rtlCol="0" anchor="ctr"/>
          <a:lstStyle/>
          <a:p>
            <a:pPr marL="0" indent="0">
              <a:lnSpc>
                <a:spcPct val="110000"/>
              </a:lnSpc>
              <a:buNone/>
            </a:pPr>
            <a:endParaRPr lang="en-US" sz="1250" dirty="0"/>
          </a:p>
        </p:txBody>
      </p:sp>
      <p:sp>
        <p:nvSpPr>
          <p:cNvPr id="12" name="Shape 9"/>
          <p:cNvSpPr/>
          <p:nvPr/>
        </p:nvSpPr>
        <p:spPr>
          <a:xfrm>
            <a:off x="502920" y="2679192"/>
            <a:ext cx="146304" cy="146304"/>
          </a:xfrm>
          <a:prstGeom prst="ellipse">
            <a:avLst/>
          </a:prstGeom>
          <a:solidFill>
            <a:srgbClr val="FFC145"/>
          </a:solidFill>
          <a:ln/>
        </p:spPr>
        <p:txBody>
          <a:bodyPr/>
          <a:lstStyle/>
          <a:p>
            <a:endParaRPr/>
          </a:p>
        </p:txBody>
      </p:sp>
      <p:sp>
        <p:nvSpPr>
          <p:cNvPr id="13" name="Text 10"/>
          <p:cNvSpPr/>
          <p:nvPr/>
        </p:nvSpPr>
        <p:spPr>
          <a:xfrm>
            <a:off x="777240" y="2578608"/>
            <a:ext cx="6309360" cy="292608"/>
          </a:xfrm>
          <a:prstGeom prst="rect">
            <a:avLst/>
          </a:prstGeom>
          <a:noFill/>
          <a:ln/>
        </p:spPr>
        <p:txBody>
          <a:bodyPr wrap="square" rtlCol="0" anchor="ctr"/>
          <a:lstStyle/>
          <a:p>
            <a:pPr marL="0" indent="0">
              <a:buNone/>
            </a:pPr>
            <a:endParaRPr lang="en-US" sz="1450" dirty="0"/>
          </a:p>
        </p:txBody>
      </p:sp>
      <p:sp>
        <p:nvSpPr>
          <p:cNvPr id="14" name="Text 11"/>
          <p:cNvSpPr/>
          <p:nvPr/>
        </p:nvSpPr>
        <p:spPr>
          <a:xfrm>
            <a:off x="777240" y="2871216"/>
            <a:ext cx="6309360" cy="457200"/>
          </a:xfrm>
          <a:prstGeom prst="rect">
            <a:avLst/>
          </a:prstGeom>
          <a:noFill/>
          <a:ln/>
        </p:spPr>
        <p:txBody>
          <a:bodyPr wrap="square" rtlCol="0" anchor="ctr"/>
          <a:lstStyle/>
          <a:p>
            <a:pPr marL="0" indent="0">
              <a:lnSpc>
                <a:spcPct val="110000"/>
              </a:lnSpc>
              <a:buNone/>
            </a:pPr>
            <a:endParaRPr lang="en-US" sz="1250" dirty="0"/>
          </a:p>
        </p:txBody>
      </p:sp>
      <p:sp>
        <p:nvSpPr>
          <p:cNvPr id="15" name="Shape 12"/>
          <p:cNvSpPr/>
          <p:nvPr/>
        </p:nvSpPr>
        <p:spPr>
          <a:xfrm>
            <a:off x="502920" y="3730752"/>
            <a:ext cx="146304" cy="146304"/>
          </a:xfrm>
          <a:prstGeom prst="ellipse">
            <a:avLst/>
          </a:prstGeom>
          <a:solidFill>
            <a:srgbClr val="FFC145"/>
          </a:solidFill>
          <a:ln/>
        </p:spPr>
        <p:txBody>
          <a:bodyPr/>
          <a:lstStyle/>
          <a:p>
            <a:endParaRPr/>
          </a:p>
        </p:txBody>
      </p:sp>
      <p:sp>
        <p:nvSpPr>
          <p:cNvPr id="16" name="Text 13"/>
          <p:cNvSpPr/>
          <p:nvPr/>
        </p:nvSpPr>
        <p:spPr>
          <a:xfrm>
            <a:off x="777240" y="3630168"/>
            <a:ext cx="6309360" cy="292608"/>
          </a:xfrm>
          <a:prstGeom prst="rect">
            <a:avLst/>
          </a:prstGeom>
          <a:noFill/>
          <a:ln/>
        </p:spPr>
        <p:txBody>
          <a:bodyPr wrap="square" rtlCol="0" anchor="ctr"/>
          <a:lstStyle/>
          <a:p>
            <a:pPr marL="0" indent="0">
              <a:buNone/>
            </a:pPr>
            <a:endParaRPr lang="en-US" sz="1450" dirty="0"/>
          </a:p>
        </p:txBody>
      </p:sp>
      <p:sp>
        <p:nvSpPr>
          <p:cNvPr id="17" name="Text 14"/>
          <p:cNvSpPr/>
          <p:nvPr/>
        </p:nvSpPr>
        <p:spPr>
          <a:xfrm>
            <a:off x="777240" y="3922776"/>
            <a:ext cx="6309360" cy="457200"/>
          </a:xfrm>
          <a:prstGeom prst="rect">
            <a:avLst/>
          </a:prstGeom>
          <a:noFill/>
          <a:ln/>
        </p:spPr>
        <p:txBody>
          <a:bodyPr wrap="square" rtlCol="0" anchor="ctr"/>
          <a:lstStyle/>
          <a:p>
            <a:pPr marL="0" indent="0">
              <a:lnSpc>
                <a:spcPct val="110000"/>
              </a:lnSpc>
              <a:buNone/>
            </a:pPr>
            <a:endParaRPr lang="en-US" sz="1250" dirty="0"/>
          </a:p>
        </p:txBody>
      </p:sp>
      <p:sp>
        <p:nvSpPr>
          <p:cNvPr id="18" name="Shape 15"/>
          <p:cNvSpPr/>
          <p:nvPr/>
        </p:nvSpPr>
        <p:spPr>
          <a:xfrm>
            <a:off x="502920" y="4782312"/>
            <a:ext cx="146304" cy="146304"/>
          </a:xfrm>
          <a:prstGeom prst="ellipse">
            <a:avLst/>
          </a:prstGeom>
          <a:solidFill>
            <a:srgbClr val="FFC145"/>
          </a:solidFill>
          <a:ln/>
        </p:spPr>
        <p:txBody>
          <a:bodyPr/>
          <a:lstStyle/>
          <a:p>
            <a:endParaRPr/>
          </a:p>
        </p:txBody>
      </p:sp>
      <p:sp>
        <p:nvSpPr>
          <p:cNvPr id="19" name="Text 16"/>
          <p:cNvSpPr/>
          <p:nvPr/>
        </p:nvSpPr>
        <p:spPr>
          <a:xfrm>
            <a:off x="777240" y="4681728"/>
            <a:ext cx="6309360" cy="292608"/>
          </a:xfrm>
          <a:prstGeom prst="rect">
            <a:avLst/>
          </a:prstGeom>
          <a:noFill/>
          <a:ln/>
        </p:spPr>
        <p:txBody>
          <a:bodyPr wrap="square" rtlCol="0" anchor="ctr"/>
          <a:lstStyle/>
          <a:p>
            <a:pPr marL="0" indent="0">
              <a:buNone/>
            </a:pPr>
            <a:endParaRPr lang="en-US" sz="1450" dirty="0"/>
          </a:p>
        </p:txBody>
      </p:sp>
      <p:sp>
        <p:nvSpPr>
          <p:cNvPr id="20" name="Text 17"/>
          <p:cNvSpPr/>
          <p:nvPr/>
        </p:nvSpPr>
        <p:spPr>
          <a:xfrm>
            <a:off x="777240" y="4974336"/>
            <a:ext cx="6309360" cy="457200"/>
          </a:xfrm>
          <a:prstGeom prst="rect">
            <a:avLst/>
          </a:prstGeom>
          <a:noFill/>
          <a:ln/>
        </p:spPr>
        <p:txBody>
          <a:bodyPr wrap="square" rtlCol="0" anchor="ctr"/>
          <a:lstStyle/>
          <a:p>
            <a:pPr marL="0" indent="0">
              <a:lnSpc>
                <a:spcPct val="110000"/>
              </a:lnSpc>
              <a:buNone/>
            </a:pPr>
            <a:endParaRPr lang="en-US" sz="1250" dirty="0"/>
          </a:p>
        </p:txBody>
      </p:sp>
      <p:sp>
        <p:nvSpPr>
          <p:cNvPr id="22" name="Text 19"/>
          <p:cNvSpPr/>
          <p:nvPr/>
        </p:nvSpPr>
        <p:spPr>
          <a:xfrm>
            <a:off x="731520" y="5623560"/>
            <a:ext cx="5852160" cy="685800"/>
          </a:xfrm>
          <a:prstGeom prst="rect">
            <a:avLst/>
          </a:prstGeom>
          <a:noFill/>
          <a:ln/>
        </p:spPr>
        <p:txBody>
          <a:bodyPr wrap="square" rtlCol="0" anchor="ctr"/>
          <a:lstStyle/>
          <a:p>
            <a:pPr marL="0" indent="0">
              <a:buNone/>
            </a:pPr>
            <a:endParaRPr lang="en-US" sz="1200" dirty="0"/>
          </a:p>
        </p:txBody>
      </p:sp>
      <p:sp>
        <p:nvSpPr>
          <p:cNvPr id="23" name="Text 20"/>
          <p:cNvSpPr/>
          <p:nvPr/>
        </p:nvSpPr>
        <p:spPr>
          <a:xfrm>
            <a:off x="7360920" y="1572768"/>
            <a:ext cx="3657600" cy="274320"/>
          </a:xfrm>
          <a:prstGeom prst="rect">
            <a:avLst/>
          </a:prstGeom>
          <a:noFill/>
          <a:ln/>
        </p:spPr>
        <p:txBody>
          <a:bodyPr wrap="square" rtlCol="0" anchor="ctr"/>
          <a:lstStyle/>
          <a:p>
            <a:pPr marL="0" indent="0">
              <a:buNone/>
            </a:pPr>
            <a:endParaRPr lang="en-US" sz="1050" dirty="0"/>
          </a:p>
        </p:txBody>
      </p:sp>
      <p:sp>
        <p:nvSpPr>
          <p:cNvPr id="24" name="Shape 21"/>
          <p:cNvSpPr/>
          <p:nvPr/>
        </p:nvSpPr>
        <p:spPr>
          <a:xfrm>
            <a:off x="1069848" y="3836062"/>
            <a:ext cx="960120" cy="1234440"/>
          </a:xfrm>
          <a:prstGeom prst="roundRect">
            <a:avLst>
              <a:gd name="adj" fmla="val 9524"/>
            </a:avLst>
          </a:prstGeom>
          <a:solidFill>
            <a:srgbClr val="F3F6FC"/>
          </a:solidFill>
          <a:ln w="12700">
            <a:solidFill>
              <a:srgbClr val="E3E8F2"/>
            </a:solidFill>
            <a:prstDash val="solid"/>
          </a:ln>
        </p:spPr>
        <p:txBody>
          <a:bodyPr/>
          <a:lstStyle/>
          <a:p>
            <a:endParaRPr dirty="0"/>
          </a:p>
        </p:txBody>
      </p:sp>
      <p:pic>
        <p:nvPicPr>
          <p:cNvPr id="25" name="Image 1" descr="/home/claude/proj/icons/file.png"/>
          <p:cNvPicPr>
            <a:picLocks noChangeAspect="1"/>
          </p:cNvPicPr>
          <p:nvPr/>
        </p:nvPicPr>
        <p:blipFill>
          <a:blip r:embed="rId4"/>
          <a:stretch>
            <a:fillRect/>
          </a:stretch>
        </p:blipFill>
        <p:spPr>
          <a:xfrm>
            <a:off x="1357884" y="4233672"/>
            <a:ext cx="384048" cy="384048"/>
          </a:xfrm>
          <a:prstGeom prst="rect">
            <a:avLst/>
          </a:prstGeom>
        </p:spPr>
      </p:pic>
      <p:sp>
        <p:nvSpPr>
          <p:cNvPr id="26" name="Text 22"/>
          <p:cNvSpPr/>
          <p:nvPr/>
        </p:nvSpPr>
        <p:spPr>
          <a:xfrm>
            <a:off x="7086600" y="2569464"/>
            <a:ext cx="1051560" cy="548640"/>
          </a:xfrm>
          <a:prstGeom prst="rect">
            <a:avLst/>
          </a:prstGeom>
          <a:noFill/>
          <a:ln/>
        </p:spPr>
        <p:txBody>
          <a:bodyPr wrap="square" rtlCol="0" anchor="ctr"/>
          <a:lstStyle/>
          <a:p>
            <a:pPr marL="0" indent="0" algn="ctr">
              <a:lnSpc>
                <a:spcPct val="100000"/>
              </a:lnSpc>
              <a:buNone/>
            </a:pPr>
            <a:endParaRPr lang="en-US" sz="950" dirty="0"/>
          </a:p>
        </p:txBody>
      </p:sp>
      <p:sp>
        <p:nvSpPr>
          <p:cNvPr id="27" name="Text 23"/>
          <p:cNvSpPr/>
          <p:nvPr/>
        </p:nvSpPr>
        <p:spPr>
          <a:xfrm>
            <a:off x="8092440" y="2350008"/>
            <a:ext cx="320040" cy="457200"/>
          </a:xfrm>
          <a:prstGeom prst="rect">
            <a:avLst/>
          </a:prstGeom>
          <a:noFill/>
          <a:ln/>
        </p:spPr>
        <p:txBody>
          <a:bodyPr wrap="square" rtlCol="0" anchor="ctr"/>
          <a:lstStyle/>
          <a:p>
            <a:pPr marL="0" indent="0" algn="ctr">
              <a:buNone/>
            </a:pPr>
            <a:endParaRPr lang="en-US" sz="1800" dirty="0"/>
          </a:p>
        </p:txBody>
      </p:sp>
      <p:sp>
        <p:nvSpPr>
          <p:cNvPr id="28" name="Shape 24"/>
          <p:cNvSpPr/>
          <p:nvPr/>
        </p:nvSpPr>
        <p:spPr>
          <a:xfrm>
            <a:off x="4146804" y="3842921"/>
            <a:ext cx="960120" cy="1234440"/>
          </a:xfrm>
          <a:prstGeom prst="roundRect">
            <a:avLst>
              <a:gd name="adj" fmla="val 9524"/>
            </a:avLst>
          </a:prstGeom>
          <a:solidFill>
            <a:srgbClr val="F3F6FC"/>
          </a:solidFill>
          <a:ln w="12700">
            <a:solidFill>
              <a:srgbClr val="E3E8F2"/>
            </a:solidFill>
            <a:prstDash val="solid"/>
          </a:ln>
        </p:spPr>
        <p:txBody>
          <a:bodyPr/>
          <a:lstStyle/>
          <a:p>
            <a:endParaRPr dirty="0"/>
          </a:p>
        </p:txBody>
      </p:sp>
      <p:pic>
        <p:nvPicPr>
          <p:cNvPr id="29" name="Image 2" descr="/home/claude/proj/icons/sitemap.png"/>
          <p:cNvPicPr>
            <a:picLocks noChangeAspect="1"/>
          </p:cNvPicPr>
          <p:nvPr/>
        </p:nvPicPr>
        <p:blipFill>
          <a:blip r:embed="rId3"/>
          <a:stretch>
            <a:fillRect/>
          </a:stretch>
        </p:blipFill>
        <p:spPr>
          <a:xfrm>
            <a:off x="4434840" y="4222398"/>
            <a:ext cx="384048" cy="384048"/>
          </a:xfrm>
          <a:prstGeom prst="rect">
            <a:avLst/>
          </a:prstGeom>
        </p:spPr>
      </p:pic>
      <p:sp>
        <p:nvSpPr>
          <p:cNvPr id="30" name="Text 25"/>
          <p:cNvSpPr/>
          <p:nvPr/>
        </p:nvSpPr>
        <p:spPr>
          <a:xfrm>
            <a:off x="8366760" y="2569464"/>
            <a:ext cx="1051560" cy="548640"/>
          </a:xfrm>
          <a:prstGeom prst="rect">
            <a:avLst/>
          </a:prstGeom>
          <a:noFill/>
          <a:ln/>
        </p:spPr>
        <p:txBody>
          <a:bodyPr wrap="square" rtlCol="0" anchor="ctr"/>
          <a:lstStyle/>
          <a:p>
            <a:pPr marL="0" indent="0" algn="ctr">
              <a:lnSpc>
                <a:spcPct val="100000"/>
              </a:lnSpc>
              <a:buNone/>
            </a:pPr>
            <a:endParaRPr lang="en-US" sz="950" dirty="0"/>
          </a:p>
        </p:txBody>
      </p:sp>
      <p:sp>
        <p:nvSpPr>
          <p:cNvPr id="31" name="Text 26"/>
          <p:cNvSpPr/>
          <p:nvPr/>
        </p:nvSpPr>
        <p:spPr>
          <a:xfrm>
            <a:off x="9372600" y="2350008"/>
            <a:ext cx="320040" cy="457200"/>
          </a:xfrm>
          <a:prstGeom prst="rect">
            <a:avLst/>
          </a:prstGeom>
          <a:noFill/>
          <a:ln/>
        </p:spPr>
        <p:txBody>
          <a:bodyPr wrap="square" rtlCol="0" anchor="ctr"/>
          <a:lstStyle/>
          <a:p>
            <a:pPr marL="0" indent="0" algn="ctr">
              <a:buNone/>
            </a:pPr>
            <a:endParaRPr lang="en-US" sz="1800" dirty="0"/>
          </a:p>
        </p:txBody>
      </p:sp>
      <p:sp>
        <p:nvSpPr>
          <p:cNvPr id="32" name="Shape 27"/>
          <p:cNvSpPr/>
          <p:nvPr/>
        </p:nvSpPr>
        <p:spPr>
          <a:xfrm>
            <a:off x="6856476" y="3794760"/>
            <a:ext cx="960120" cy="1234440"/>
          </a:xfrm>
          <a:prstGeom prst="roundRect">
            <a:avLst>
              <a:gd name="adj" fmla="val 9524"/>
            </a:avLst>
          </a:prstGeom>
          <a:solidFill>
            <a:srgbClr val="F3F6FC"/>
          </a:solidFill>
          <a:ln w="12700">
            <a:solidFill>
              <a:srgbClr val="E3E8F2"/>
            </a:solidFill>
            <a:prstDash val="solid"/>
          </a:ln>
        </p:spPr>
        <p:txBody>
          <a:bodyPr/>
          <a:lstStyle/>
          <a:p>
            <a:endParaRPr/>
          </a:p>
        </p:txBody>
      </p:sp>
      <p:pic>
        <p:nvPicPr>
          <p:cNvPr id="33" name="Image 3" descr="/home/claude/proj/icons/search.png"/>
          <p:cNvPicPr>
            <a:picLocks noChangeAspect="1"/>
          </p:cNvPicPr>
          <p:nvPr/>
        </p:nvPicPr>
        <p:blipFill>
          <a:blip r:embed="rId5"/>
          <a:stretch>
            <a:fillRect/>
          </a:stretch>
        </p:blipFill>
        <p:spPr>
          <a:xfrm>
            <a:off x="7168896" y="4222398"/>
            <a:ext cx="384048" cy="384048"/>
          </a:xfrm>
          <a:prstGeom prst="rect">
            <a:avLst/>
          </a:prstGeom>
        </p:spPr>
      </p:pic>
      <p:sp>
        <p:nvSpPr>
          <p:cNvPr id="34" name="Text 28"/>
          <p:cNvSpPr/>
          <p:nvPr/>
        </p:nvSpPr>
        <p:spPr>
          <a:xfrm>
            <a:off x="9646920" y="2569464"/>
            <a:ext cx="1051560" cy="548640"/>
          </a:xfrm>
          <a:prstGeom prst="rect">
            <a:avLst/>
          </a:prstGeom>
          <a:noFill/>
          <a:ln/>
        </p:spPr>
        <p:txBody>
          <a:bodyPr wrap="square" rtlCol="0" anchor="ctr"/>
          <a:lstStyle/>
          <a:p>
            <a:pPr marL="0" indent="0" algn="ctr">
              <a:lnSpc>
                <a:spcPct val="100000"/>
              </a:lnSpc>
              <a:buNone/>
            </a:pPr>
            <a:endParaRPr lang="en-US" sz="950" dirty="0"/>
          </a:p>
        </p:txBody>
      </p:sp>
      <p:sp>
        <p:nvSpPr>
          <p:cNvPr id="35" name="Text 29"/>
          <p:cNvSpPr/>
          <p:nvPr/>
        </p:nvSpPr>
        <p:spPr>
          <a:xfrm>
            <a:off x="10652760" y="2350008"/>
            <a:ext cx="320040" cy="457200"/>
          </a:xfrm>
          <a:prstGeom prst="rect">
            <a:avLst/>
          </a:prstGeom>
          <a:noFill/>
          <a:ln/>
        </p:spPr>
        <p:txBody>
          <a:bodyPr wrap="square" rtlCol="0" anchor="ctr"/>
          <a:lstStyle/>
          <a:p>
            <a:pPr marL="0" indent="0" algn="ctr">
              <a:buNone/>
            </a:pPr>
            <a:endParaRPr lang="en-US" sz="1800" dirty="0"/>
          </a:p>
        </p:txBody>
      </p:sp>
      <p:sp>
        <p:nvSpPr>
          <p:cNvPr id="36" name="Shape 30"/>
          <p:cNvSpPr/>
          <p:nvPr/>
        </p:nvSpPr>
        <p:spPr>
          <a:xfrm>
            <a:off x="9590913" y="3747897"/>
            <a:ext cx="960120" cy="1234440"/>
          </a:xfrm>
          <a:prstGeom prst="roundRect">
            <a:avLst>
              <a:gd name="adj" fmla="val 9524"/>
            </a:avLst>
          </a:prstGeom>
          <a:solidFill>
            <a:srgbClr val="F3F6FC"/>
          </a:solidFill>
          <a:ln w="12700">
            <a:solidFill>
              <a:srgbClr val="E3E8F2"/>
            </a:solidFill>
            <a:prstDash val="solid"/>
          </a:ln>
        </p:spPr>
        <p:txBody>
          <a:bodyPr/>
          <a:lstStyle/>
          <a:p>
            <a:endParaRPr/>
          </a:p>
        </p:txBody>
      </p:sp>
      <p:pic>
        <p:nvPicPr>
          <p:cNvPr id="37" name="Image 4" descr="/home/claude/proj/icons/checklist.png"/>
          <p:cNvPicPr>
            <a:picLocks noChangeAspect="1"/>
          </p:cNvPicPr>
          <p:nvPr/>
        </p:nvPicPr>
        <p:blipFill>
          <a:blip r:embed="rId6"/>
          <a:stretch>
            <a:fillRect/>
          </a:stretch>
        </p:blipFill>
        <p:spPr>
          <a:xfrm>
            <a:off x="9878949" y="4133088"/>
            <a:ext cx="384048" cy="384048"/>
          </a:xfrm>
          <a:prstGeom prst="rect">
            <a:avLst/>
          </a:prstGeom>
        </p:spPr>
      </p:pic>
      <p:sp>
        <p:nvSpPr>
          <p:cNvPr id="38" name="Text 31"/>
          <p:cNvSpPr/>
          <p:nvPr/>
        </p:nvSpPr>
        <p:spPr>
          <a:xfrm>
            <a:off x="10927080" y="2569464"/>
            <a:ext cx="1051560" cy="548640"/>
          </a:xfrm>
          <a:prstGeom prst="rect">
            <a:avLst/>
          </a:prstGeom>
          <a:noFill/>
          <a:ln/>
        </p:spPr>
        <p:txBody>
          <a:bodyPr wrap="square" rtlCol="0" anchor="ctr"/>
          <a:lstStyle/>
          <a:p>
            <a:pPr marL="0" indent="0" algn="ctr">
              <a:lnSpc>
                <a:spcPct val="100000"/>
              </a:lnSpc>
              <a:buNone/>
            </a:pPr>
            <a:endParaRPr lang="en-US" sz="950" dirty="0"/>
          </a:p>
        </p:txBody>
      </p:sp>
      <p:sp>
        <p:nvSpPr>
          <p:cNvPr id="40" name="Text 33"/>
          <p:cNvSpPr/>
          <p:nvPr/>
        </p:nvSpPr>
        <p:spPr>
          <a:xfrm>
            <a:off x="7635240" y="3611880"/>
            <a:ext cx="3794760" cy="2468880"/>
          </a:xfrm>
          <a:prstGeom prst="rect">
            <a:avLst/>
          </a:prstGeom>
          <a:noFill/>
          <a:ln/>
        </p:spPr>
        <p:txBody>
          <a:bodyPr wrap="square" rtlCol="0" anchor="t"/>
          <a:lstStyle/>
          <a:p>
            <a:pPr marL="0" indent="0">
              <a:lnSpc>
                <a:spcPct val="130000"/>
              </a:lnSpc>
              <a:buNone/>
            </a:pPr>
            <a:endParaRPr lang="en-US" sz="1300" dirty="0"/>
          </a:p>
        </p:txBody>
      </p:sp>
      <p:sp>
        <p:nvSpPr>
          <p:cNvPr id="41" name="TextBox 40"/>
          <p:cNvSpPr txBox="1"/>
          <p:nvPr/>
        </p:nvSpPr>
        <p:spPr>
          <a:xfrm>
            <a:off x="633222" y="1026880"/>
            <a:ext cx="6309360" cy="2646878"/>
          </a:xfrm>
          <a:prstGeom prst="rect">
            <a:avLst/>
          </a:prstGeom>
          <a:noFill/>
        </p:spPr>
        <p:txBody>
          <a:bodyPr wrap="square">
            <a:spAutoFit/>
          </a:bodyPr>
          <a:lstStyle/>
          <a:p>
            <a:pPr>
              <a:spcAft>
                <a:spcPts val="1200"/>
              </a:spcAft>
              <a:defRPr sz="1700">
                <a:latin typeface="Aptos"/>
              </a:defRPr>
            </a:pPr>
            <a:r>
              <a:rPr dirty="0"/>
              <a:t>• Duplicate product listings create fragmented records across e-commerce platforms.</a:t>
            </a:r>
          </a:p>
          <a:p>
            <a:pPr>
              <a:spcAft>
                <a:spcPts val="1200"/>
              </a:spcAft>
              <a:defRPr sz="1700">
                <a:latin typeface="Aptos"/>
              </a:defRPr>
            </a:pPr>
            <a:r>
              <a:rPr dirty="0"/>
              <a:t>• Product titles may contain spelling variations, incomplete names, or different wording.</a:t>
            </a:r>
          </a:p>
          <a:p>
            <a:pPr>
              <a:spcAft>
                <a:spcPts val="1200"/>
              </a:spcAft>
              <a:defRPr sz="1700">
                <a:latin typeface="Aptos"/>
              </a:defRPr>
            </a:pPr>
            <a:r>
              <a:rPr dirty="0"/>
              <a:t>• Description similarity must be </a:t>
            </a:r>
            <a:r>
              <a:rPr dirty="0" err="1"/>
              <a:t>analysed</a:t>
            </a:r>
            <a:r>
              <a:rPr dirty="0"/>
              <a:t> without relying only on exact text matches.</a:t>
            </a:r>
          </a:p>
          <a:p>
            <a:pPr>
              <a:spcAft>
                <a:spcPts val="1200"/>
              </a:spcAft>
              <a:defRPr sz="1700">
                <a:latin typeface="Aptos"/>
              </a:defRPr>
            </a:pPr>
            <a:r>
              <a:rPr dirty="0"/>
              <a:t>• A scalable matching system is required to connect seller listings to canonical product entities.</a:t>
            </a:r>
          </a:p>
        </p:txBody>
      </p:sp>
      <p:sp>
        <p:nvSpPr>
          <p:cNvPr id="42" name="Rounded Rectangle 41"/>
          <p:cNvSpPr/>
          <p:nvPr/>
        </p:nvSpPr>
        <p:spPr>
          <a:xfrm>
            <a:off x="731520" y="5074920"/>
            <a:ext cx="2148840" cy="594360"/>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latin typeface="Aptos"/>
              </a:defRPr>
            </a:pPr>
            <a:r>
              <a:rPr dirty="0">
                <a:solidFill>
                  <a:schemeClr val="tx1"/>
                </a:solidFill>
              </a:rPr>
              <a:t>Seller Listings</a:t>
            </a:r>
          </a:p>
        </p:txBody>
      </p:sp>
      <p:sp>
        <p:nvSpPr>
          <p:cNvPr id="43" name="Chevron 42"/>
          <p:cNvSpPr/>
          <p:nvPr/>
        </p:nvSpPr>
        <p:spPr>
          <a:xfrm>
            <a:off x="2971800" y="5212080"/>
            <a:ext cx="274320" cy="320040"/>
          </a:xfrm>
          <a:prstGeom prst="chevron">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3474720" y="5074920"/>
            <a:ext cx="2148840" cy="594360"/>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latin typeface="Aptos"/>
              </a:defRPr>
            </a:pPr>
            <a:r>
              <a:rPr dirty="0">
                <a:solidFill>
                  <a:schemeClr val="tx1"/>
                </a:solidFill>
              </a:rPr>
              <a:t>Text Matching</a:t>
            </a:r>
          </a:p>
        </p:txBody>
      </p:sp>
      <p:sp>
        <p:nvSpPr>
          <p:cNvPr id="45" name="Chevron 44"/>
          <p:cNvSpPr/>
          <p:nvPr/>
        </p:nvSpPr>
        <p:spPr>
          <a:xfrm>
            <a:off x="5715000" y="5212080"/>
            <a:ext cx="274320" cy="320040"/>
          </a:xfrm>
          <a:prstGeom prst="chevron">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6217920" y="5074920"/>
            <a:ext cx="2148840" cy="594360"/>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latin typeface="Aptos"/>
              </a:defRPr>
            </a:pPr>
            <a:r>
              <a:rPr dirty="0">
                <a:solidFill>
                  <a:schemeClr val="tx1"/>
                </a:solidFill>
              </a:rPr>
              <a:t>Entity Resolution</a:t>
            </a:r>
          </a:p>
        </p:txBody>
      </p:sp>
      <p:sp>
        <p:nvSpPr>
          <p:cNvPr id="47" name="Chevron 46"/>
          <p:cNvSpPr/>
          <p:nvPr/>
        </p:nvSpPr>
        <p:spPr>
          <a:xfrm>
            <a:off x="8458200" y="5212080"/>
            <a:ext cx="274320" cy="320040"/>
          </a:xfrm>
          <a:prstGeom prst="chevron">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8961120" y="5074920"/>
            <a:ext cx="2148840" cy="594360"/>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latin typeface="Aptos"/>
              </a:defRPr>
            </a:pPr>
            <a:r>
              <a:rPr lang="en-IN" dirty="0">
                <a:solidFill>
                  <a:schemeClr val="tx1"/>
                </a:solidFill>
              </a:rPr>
              <a:t>Canonical Products</a:t>
            </a:r>
            <a:endParaRPr dirty="0">
              <a:solidFill>
                <a:schemeClr val="tx1"/>
              </a:solidFill>
            </a:endParaRPr>
          </a:p>
        </p:txBody>
      </p:sp>
      <p:sp>
        <p:nvSpPr>
          <p:cNvPr id="49" name="TextBox 48"/>
          <p:cNvSpPr txBox="1"/>
          <p:nvPr/>
        </p:nvSpPr>
        <p:spPr>
          <a:xfrm>
            <a:off x="731520" y="6400800"/>
            <a:ext cx="10789920" cy="228600"/>
          </a:xfrm>
          <a:prstGeom prst="rect">
            <a:avLst/>
          </a:prstGeom>
          <a:noFill/>
        </p:spPr>
        <p:txBody>
          <a:bodyPr wrap="none">
            <a:spAutoFit/>
          </a:bodyPr>
          <a:lstStyle/>
          <a:p>
            <a:pPr>
              <a:defRPr sz="850">
                <a:latin typeface="Aptos"/>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txBody>
          <a:bodyPr/>
          <a:lstStyle/>
          <a:p>
            <a:endParaRPr/>
          </a:p>
        </p:txBody>
      </p:sp>
      <p:pic>
        <p:nvPicPr>
          <p:cNvPr id="3" name="Image 0" descr="/home/claude/proj/icons/code.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defRPr sz="2600" b="1">
                <a:latin typeface="Aptos Display"/>
              </a:defRPr>
            </a:pPr>
            <a:r>
              <a:t>LITERATURE REVIEW</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defRPr sz="1200" b="1">
                <a:latin typeface="Aptos"/>
              </a:defRPr>
            </a:pPr>
            <a:r>
              <a:t>Existing Approaches</a:t>
            </a: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txBody>
          <a:bodyPr/>
          <a:lstStyle/>
          <a:p>
            <a:endParaRPr/>
          </a:p>
        </p:txBody>
      </p:sp>
      <p:sp>
        <p:nvSpPr>
          <p:cNvPr id="7" name="Text 4"/>
          <p:cNvSpPr/>
          <p:nvPr/>
        </p:nvSpPr>
        <p:spPr>
          <a:xfrm>
            <a:off x="502920" y="6528816"/>
            <a:ext cx="7315200" cy="274320"/>
          </a:xfrm>
          <a:prstGeom prst="rect">
            <a:avLst/>
          </a:prstGeom>
          <a:noFill/>
          <a:ln/>
        </p:spPr>
        <p:txBody>
          <a:bodyPr wrap="square" rtlCol="0" anchor="ctr"/>
          <a:lstStyle/>
          <a:p>
            <a:pPr marL="0" indent="0">
              <a:buNone/>
            </a:pP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endParaRPr lang="en-US" sz="900" dirty="0"/>
          </a:p>
        </p:txBody>
      </p:sp>
      <p:sp>
        <p:nvSpPr>
          <p:cNvPr id="9" name="Shape 6"/>
          <p:cNvSpPr/>
          <p:nvPr/>
        </p:nvSpPr>
        <p:spPr>
          <a:xfrm>
            <a:off x="502920" y="1600200"/>
            <a:ext cx="5349240" cy="4663440"/>
          </a:xfrm>
          <a:prstGeom prst="roundRect">
            <a:avLst>
              <a:gd name="adj" fmla="val 2353"/>
            </a:avLst>
          </a:prstGeom>
          <a:solidFill>
            <a:srgbClr val="F3F6FC"/>
          </a:solidFill>
          <a:ln/>
        </p:spPr>
        <p:txBody>
          <a:bodyPr wrap="square"/>
          <a:lstStyle/>
          <a:p>
            <a:pPr>
              <a:spcAft>
                <a:spcPts val="1200"/>
              </a:spcAft>
              <a:defRPr sz="1700">
                <a:latin typeface="Aptos"/>
              </a:defRPr>
            </a:pPr>
            <a:r>
              <a:t>• Pattern matching algorithms such as KMP and Rabin-Karp support efficient text comparison and duplicate title detection.</a:t>
            </a:r>
          </a:p>
          <a:p>
            <a:pPr>
              <a:spcAft>
                <a:spcPts val="1200"/>
              </a:spcAft>
              <a:defRPr sz="1700">
                <a:latin typeface="Aptos"/>
              </a:defRPr>
            </a:pPr>
            <a:r>
              <a:t>• Suffix Arrays provide an approach for analysing similarity between product descriptions.</a:t>
            </a:r>
          </a:p>
          <a:p>
            <a:pPr>
              <a:spcAft>
                <a:spcPts val="1200"/>
              </a:spcAft>
              <a:defRPr sz="1700">
                <a:latin typeface="Aptos"/>
              </a:defRPr>
            </a:pPr>
            <a:r>
              <a:t>• Wagner-Fischer Edit Distance uses Dynamic Programming to handle spelling variations and incomplete names.</a:t>
            </a:r>
          </a:p>
          <a:p>
            <a:pPr>
              <a:spcAft>
                <a:spcPts val="1200"/>
              </a:spcAft>
              <a:defRPr sz="1700">
                <a:latin typeface="Aptos"/>
              </a:defRPr>
            </a:pPr>
            <a:r>
              <a:t>• Graph-based assignment and approximation methods address matching across large sets of seller-product relationships.</a:t>
            </a:r>
          </a:p>
        </p:txBody>
      </p:sp>
      <p:sp>
        <p:nvSpPr>
          <p:cNvPr id="12" name="Text 8"/>
          <p:cNvSpPr/>
          <p:nvPr/>
        </p:nvSpPr>
        <p:spPr>
          <a:xfrm>
            <a:off x="1463040" y="1901952"/>
            <a:ext cx="3657600" cy="457200"/>
          </a:xfrm>
          <a:prstGeom prst="rect">
            <a:avLst/>
          </a:prstGeom>
          <a:noFill/>
          <a:ln/>
        </p:spPr>
        <p:txBody>
          <a:bodyPr wrap="square" rtlCol="0" anchor="ctr"/>
          <a:lstStyle/>
          <a:p>
            <a:pPr marL="0" indent="0">
              <a:buNone/>
            </a:pPr>
            <a:endParaRPr lang="en-US" sz="1700" dirty="0"/>
          </a:p>
        </p:txBody>
      </p:sp>
      <p:sp>
        <p:nvSpPr>
          <p:cNvPr id="14" name="Text 9"/>
          <p:cNvSpPr/>
          <p:nvPr/>
        </p:nvSpPr>
        <p:spPr>
          <a:xfrm>
            <a:off x="1371600" y="2551176"/>
            <a:ext cx="4069080" cy="274320"/>
          </a:xfrm>
          <a:prstGeom prst="rect">
            <a:avLst/>
          </a:prstGeom>
          <a:noFill/>
          <a:ln/>
        </p:spPr>
        <p:txBody>
          <a:bodyPr wrap="square" rtlCol="0" anchor="ctr"/>
          <a:lstStyle/>
          <a:p>
            <a:pPr marL="0" indent="0">
              <a:buNone/>
            </a:pPr>
            <a:endParaRPr lang="en-US" sz="1350" dirty="0"/>
          </a:p>
        </p:txBody>
      </p:sp>
      <p:sp>
        <p:nvSpPr>
          <p:cNvPr id="15" name="Text 10"/>
          <p:cNvSpPr/>
          <p:nvPr/>
        </p:nvSpPr>
        <p:spPr>
          <a:xfrm>
            <a:off x="1371600" y="2825496"/>
            <a:ext cx="4069080" cy="274320"/>
          </a:xfrm>
          <a:prstGeom prst="rect">
            <a:avLst/>
          </a:prstGeom>
          <a:noFill/>
          <a:ln/>
        </p:spPr>
        <p:txBody>
          <a:bodyPr wrap="square" rtlCol="0" anchor="ctr"/>
          <a:lstStyle/>
          <a:p>
            <a:pPr marL="0" indent="0">
              <a:buNone/>
            </a:pPr>
            <a:endParaRPr lang="en-US" sz="1150" dirty="0"/>
          </a:p>
        </p:txBody>
      </p:sp>
      <p:sp>
        <p:nvSpPr>
          <p:cNvPr id="17" name="Text 11"/>
          <p:cNvSpPr/>
          <p:nvPr/>
        </p:nvSpPr>
        <p:spPr>
          <a:xfrm>
            <a:off x="1371600" y="3328416"/>
            <a:ext cx="4069080" cy="274320"/>
          </a:xfrm>
          <a:prstGeom prst="rect">
            <a:avLst/>
          </a:prstGeom>
          <a:noFill/>
          <a:ln/>
        </p:spPr>
        <p:txBody>
          <a:bodyPr wrap="square" rtlCol="0" anchor="ctr"/>
          <a:lstStyle/>
          <a:p>
            <a:pPr marL="0" indent="0">
              <a:buNone/>
            </a:pPr>
            <a:endParaRPr lang="en-US" sz="1350" dirty="0"/>
          </a:p>
        </p:txBody>
      </p:sp>
      <p:sp>
        <p:nvSpPr>
          <p:cNvPr id="18" name="Text 12"/>
          <p:cNvSpPr/>
          <p:nvPr/>
        </p:nvSpPr>
        <p:spPr>
          <a:xfrm>
            <a:off x="1371600" y="3602736"/>
            <a:ext cx="4069080" cy="274320"/>
          </a:xfrm>
          <a:prstGeom prst="rect">
            <a:avLst/>
          </a:prstGeom>
          <a:noFill/>
          <a:ln/>
        </p:spPr>
        <p:txBody>
          <a:bodyPr wrap="square" rtlCol="0" anchor="ctr"/>
          <a:lstStyle/>
          <a:p>
            <a:pPr marL="0" indent="0">
              <a:buNone/>
            </a:pPr>
            <a:endParaRPr lang="en-US" sz="1150" dirty="0"/>
          </a:p>
        </p:txBody>
      </p:sp>
      <p:sp>
        <p:nvSpPr>
          <p:cNvPr id="20" name="Text 13"/>
          <p:cNvSpPr/>
          <p:nvPr/>
        </p:nvSpPr>
        <p:spPr>
          <a:xfrm>
            <a:off x="1371600" y="4105656"/>
            <a:ext cx="4069080" cy="274320"/>
          </a:xfrm>
          <a:prstGeom prst="rect">
            <a:avLst/>
          </a:prstGeom>
          <a:noFill/>
          <a:ln/>
        </p:spPr>
        <p:txBody>
          <a:bodyPr wrap="square" rtlCol="0" anchor="ctr"/>
          <a:lstStyle/>
          <a:p>
            <a:pPr marL="0" indent="0">
              <a:buNone/>
            </a:pPr>
            <a:endParaRPr lang="en-US" sz="1350" dirty="0"/>
          </a:p>
        </p:txBody>
      </p:sp>
      <p:sp>
        <p:nvSpPr>
          <p:cNvPr id="21" name="Text 14"/>
          <p:cNvSpPr/>
          <p:nvPr/>
        </p:nvSpPr>
        <p:spPr>
          <a:xfrm>
            <a:off x="1371600" y="4379976"/>
            <a:ext cx="4069080" cy="274320"/>
          </a:xfrm>
          <a:prstGeom prst="rect">
            <a:avLst/>
          </a:prstGeom>
          <a:noFill/>
          <a:ln/>
        </p:spPr>
        <p:txBody>
          <a:bodyPr wrap="square" rtlCol="0" anchor="ctr"/>
          <a:lstStyle/>
          <a:p>
            <a:pPr marL="0" indent="0">
              <a:buNone/>
            </a:pPr>
            <a:endParaRPr lang="en-US" sz="1150" dirty="0"/>
          </a:p>
        </p:txBody>
      </p:sp>
      <p:sp>
        <p:nvSpPr>
          <p:cNvPr id="23" name="Text 15"/>
          <p:cNvSpPr/>
          <p:nvPr/>
        </p:nvSpPr>
        <p:spPr>
          <a:xfrm>
            <a:off x="1371600" y="4882896"/>
            <a:ext cx="4069080" cy="274320"/>
          </a:xfrm>
          <a:prstGeom prst="rect">
            <a:avLst/>
          </a:prstGeom>
          <a:noFill/>
          <a:ln/>
        </p:spPr>
        <p:txBody>
          <a:bodyPr wrap="square" rtlCol="0" anchor="ctr"/>
          <a:lstStyle/>
          <a:p>
            <a:pPr marL="0" indent="0">
              <a:buNone/>
            </a:pPr>
            <a:endParaRPr lang="en-US" sz="1350" dirty="0"/>
          </a:p>
        </p:txBody>
      </p:sp>
      <p:sp>
        <p:nvSpPr>
          <p:cNvPr id="24" name="Text 16"/>
          <p:cNvSpPr/>
          <p:nvPr/>
        </p:nvSpPr>
        <p:spPr>
          <a:xfrm>
            <a:off x="1371600" y="5157216"/>
            <a:ext cx="4069080" cy="274320"/>
          </a:xfrm>
          <a:prstGeom prst="rect">
            <a:avLst/>
          </a:prstGeom>
          <a:noFill/>
          <a:ln/>
        </p:spPr>
        <p:txBody>
          <a:bodyPr wrap="square" rtlCol="0" anchor="ctr"/>
          <a:lstStyle/>
          <a:p>
            <a:pPr marL="0" indent="0">
              <a:buNone/>
            </a:pPr>
            <a:endParaRPr lang="en-US" sz="1150" dirty="0"/>
          </a:p>
        </p:txBody>
      </p:sp>
      <p:sp>
        <p:nvSpPr>
          <p:cNvPr id="25" name="Shape 17"/>
          <p:cNvSpPr/>
          <p:nvPr/>
        </p:nvSpPr>
        <p:spPr>
          <a:xfrm>
            <a:off x="6428232" y="1600200"/>
            <a:ext cx="5349240" cy="4663440"/>
          </a:xfrm>
          <a:prstGeom prst="roundRect">
            <a:avLst>
              <a:gd name="adj" fmla="val 2353"/>
            </a:avLst>
          </a:prstGeom>
          <a:solidFill>
            <a:srgbClr val="F3F6FC"/>
          </a:solidFill>
          <a:ln/>
        </p:spPr>
        <p:txBody>
          <a:bodyPr/>
          <a:lstStyle/>
          <a:p>
            <a:endParaRPr dirty="0"/>
          </a:p>
        </p:txBody>
      </p:sp>
      <p:sp>
        <p:nvSpPr>
          <p:cNvPr id="28" name="Text 19"/>
          <p:cNvSpPr/>
          <p:nvPr/>
        </p:nvSpPr>
        <p:spPr>
          <a:xfrm>
            <a:off x="7388352" y="1901952"/>
            <a:ext cx="3657600" cy="457200"/>
          </a:xfrm>
          <a:prstGeom prst="rect">
            <a:avLst/>
          </a:prstGeom>
          <a:noFill/>
          <a:ln/>
        </p:spPr>
        <p:txBody>
          <a:bodyPr wrap="square" rtlCol="0" anchor="ctr"/>
          <a:lstStyle/>
          <a:p>
            <a:pPr marL="0" indent="0">
              <a:buNone/>
            </a:pPr>
            <a:endParaRPr lang="en-US" sz="1700" dirty="0"/>
          </a:p>
        </p:txBody>
      </p:sp>
      <p:sp>
        <p:nvSpPr>
          <p:cNvPr id="30" name="Text 20"/>
          <p:cNvSpPr/>
          <p:nvPr/>
        </p:nvSpPr>
        <p:spPr>
          <a:xfrm>
            <a:off x="7296912" y="2551176"/>
            <a:ext cx="4069080" cy="274320"/>
          </a:xfrm>
          <a:prstGeom prst="rect">
            <a:avLst/>
          </a:prstGeom>
          <a:noFill/>
          <a:ln/>
        </p:spPr>
        <p:txBody>
          <a:bodyPr wrap="square" rtlCol="0" anchor="ctr"/>
          <a:lstStyle/>
          <a:p>
            <a:pPr marL="0" indent="0">
              <a:buNone/>
            </a:pPr>
            <a:endParaRPr lang="en-US" sz="1350" dirty="0"/>
          </a:p>
        </p:txBody>
      </p:sp>
      <p:sp>
        <p:nvSpPr>
          <p:cNvPr id="31" name="Text 21"/>
          <p:cNvSpPr/>
          <p:nvPr/>
        </p:nvSpPr>
        <p:spPr>
          <a:xfrm>
            <a:off x="7296912" y="2825496"/>
            <a:ext cx="4069080" cy="274320"/>
          </a:xfrm>
          <a:prstGeom prst="rect">
            <a:avLst/>
          </a:prstGeom>
          <a:noFill/>
          <a:ln/>
        </p:spPr>
        <p:txBody>
          <a:bodyPr wrap="square" rtlCol="0" anchor="ctr"/>
          <a:lstStyle/>
          <a:p>
            <a:pPr marL="0" indent="0">
              <a:buNone/>
            </a:pPr>
            <a:endParaRPr lang="en-US" sz="1150" dirty="0"/>
          </a:p>
        </p:txBody>
      </p:sp>
      <p:sp>
        <p:nvSpPr>
          <p:cNvPr id="33" name="Text 22"/>
          <p:cNvSpPr/>
          <p:nvPr/>
        </p:nvSpPr>
        <p:spPr>
          <a:xfrm>
            <a:off x="7296912" y="3172968"/>
            <a:ext cx="4069080" cy="274320"/>
          </a:xfrm>
          <a:prstGeom prst="rect">
            <a:avLst/>
          </a:prstGeom>
          <a:noFill/>
          <a:ln/>
        </p:spPr>
        <p:txBody>
          <a:bodyPr wrap="square" rtlCol="0" anchor="ctr"/>
          <a:lstStyle/>
          <a:p>
            <a:pPr marL="0" indent="0">
              <a:buNone/>
            </a:pPr>
            <a:endParaRPr lang="en-US" sz="1350" dirty="0"/>
          </a:p>
        </p:txBody>
      </p:sp>
      <p:sp>
        <p:nvSpPr>
          <p:cNvPr id="34" name="Text 23"/>
          <p:cNvSpPr/>
          <p:nvPr/>
        </p:nvSpPr>
        <p:spPr>
          <a:xfrm>
            <a:off x="7296912" y="3447288"/>
            <a:ext cx="4069080" cy="274320"/>
          </a:xfrm>
          <a:prstGeom prst="rect">
            <a:avLst/>
          </a:prstGeom>
          <a:noFill/>
          <a:ln/>
        </p:spPr>
        <p:txBody>
          <a:bodyPr wrap="square" rtlCol="0" anchor="ctr"/>
          <a:lstStyle/>
          <a:p>
            <a:pPr marL="0" indent="0">
              <a:buNone/>
            </a:pPr>
            <a:endParaRPr lang="en-US" sz="1150" dirty="0"/>
          </a:p>
        </p:txBody>
      </p:sp>
      <p:sp>
        <p:nvSpPr>
          <p:cNvPr id="36" name="Text 24"/>
          <p:cNvSpPr/>
          <p:nvPr/>
        </p:nvSpPr>
        <p:spPr>
          <a:xfrm>
            <a:off x="7296912" y="3794760"/>
            <a:ext cx="4069080" cy="274320"/>
          </a:xfrm>
          <a:prstGeom prst="rect">
            <a:avLst/>
          </a:prstGeom>
          <a:noFill/>
          <a:ln/>
        </p:spPr>
        <p:txBody>
          <a:bodyPr wrap="square" rtlCol="0" anchor="ctr"/>
          <a:lstStyle/>
          <a:p>
            <a:pPr marL="0" indent="0">
              <a:buNone/>
            </a:pPr>
            <a:endParaRPr lang="en-US" sz="1350" dirty="0"/>
          </a:p>
        </p:txBody>
      </p:sp>
      <p:sp>
        <p:nvSpPr>
          <p:cNvPr id="37" name="Text 25"/>
          <p:cNvSpPr/>
          <p:nvPr/>
        </p:nvSpPr>
        <p:spPr>
          <a:xfrm>
            <a:off x="7296912" y="4069080"/>
            <a:ext cx="4069080" cy="274320"/>
          </a:xfrm>
          <a:prstGeom prst="rect">
            <a:avLst/>
          </a:prstGeom>
          <a:noFill/>
          <a:ln/>
        </p:spPr>
        <p:txBody>
          <a:bodyPr wrap="square" rtlCol="0" anchor="ctr"/>
          <a:lstStyle/>
          <a:p>
            <a:pPr marL="0" indent="0">
              <a:buNone/>
            </a:pPr>
            <a:endParaRPr lang="en-US" sz="1150" dirty="0"/>
          </a:p>
        </p:txBody>
      </p:sp>
      <p:sp>
        <p:nvSpPr>
          <p:cNvPr id="39" name="Text 26"/>
          <p:cNvSpPr/>
          <p:nvPr/>
        </p:nvSpPr>
        <p:spPr>
          <a:xfrm>
            <a:off x="7296912" y="4416552"/>
            <a:ext cx="4069080" cy="274320"/>
          </a:xfrm>
          <a:prstGeom prst="rect">
            <a:avLst/>
          </a:prstGeom>
          <a:noFill/>
          <a:ln/>
        </p:spPr>
        <p:txBody>
          <a:bodyPr wrap="square" rtlCol="0" anchor="ctr"/>
          <a:lstStyle/>
          <a:p>
            <a:pPr marL="0" indent="0">
              <a:buNone/>
            </a:pPr>
            <a:endParaRPr lang="en-US" sz="1350" dirty="0"/>
          </a:p>
        </p:txBody>
      </p:sp>
      <p:sp>
        <p:nvSpPr>
          <p:cNvPr id="40" name="Text 27"/>
          <p:cNvSpPr/>
          <p:nvPr/>
        </p:nvSpPr>
        <p:spPr>
          <a:xfrm>
            <a:off x="7296912" y="4690872"/>
            <a:ext cx="4069080" cy="274320"/>
          </a:xfrm>
          <a:prstGeom prst="rect">
            <a:avLst/>
          </a:prstGeom>
          <a:noFill/>
          <a:ln/>
        </p:spPr>
        <p:txBody>
          <a:bodyPr wrap="square" rtlCol="0" anchor="ctr"/>
          <a:lstStyle/>
          <a:p>
            <a:pPr marL="0" indent="0">
              <a:buNone/>
            </a:pPr>
            <a:endParaRPr lang="en-US" sz="1150" dirty="0"/>
          </a:p>
        </p:txBody>
      </p:sp>
      <p:sp>
        <p:nvSpPr>
          <p:cNvPr id="42" name="Text 28"/>
          <p:cNvSpPr/>
          <p:nvPr/>
        </p:nvSpPr>
        <p:spPr>
          <a:xfrm>
            <a:off x="7296912" y="5038344"/>
            <a:ext cx="4069080" cy="274320"/>
          </a:xfrm>
          <a:prstGeom prst="rect">
            <a:avLst/>
          </a:prstGeom>
          <a:noFill/>
          <a:ln/>
        </p:spPr>
        <p:txBody>
          <a:bodyPr wrap="square" rtlCol="0" anchor="ctr"/>
          <a:lstStyle/>
          <a:p>
            <a:pPr marL="0" indent="0">
              <a:buNone/>
            </a:pPr>
            <a:endParaRPr lang="en-US" sz="1350" dirty="0"/>
          </a:p>
        </p:txBody>
      </p:sp>
      <p:sp>
        <p:nvSpPr>
          <p:cNvPr id="43" name="Text 29"/>
          <p:cNvSpPr/>
          <p:nvPr/>
        </p:nvSpPr>
        <p:spPr>
          <a:xfrm>
            <a:off x="7296912" y="5312664"/>
            <a:ext cx="4069080" cy="274320"/>
          </a:xfrm>
          <a:prstGeom prst="rect">
            <a:avLst/>
          </a:prstGeom>
          <a:noFill/>
          <a:ln/>
        </p:spPr>
        <p:txBody>
          <a:bodyPr wrap="square" rtlCol="0" anchor="ctr"/>
          <a:lstStyle/>
          <a:p>
            <a:pPr marL="0" indent="0">
              <a:buNone/>
            </a:pPr>
            <a:endParaRPr lang="en-US" sz="1150" dirty="0"/>
          </a:p>
        </p:txBody>
      </p:sp>
      <p:sp>
        <p:nvSpPr>
          <p:cNvPr id="44" name="Rectangle 43"/>
          <p:cNvSpPr/>
          <p:nvPr/>
        </p:nvSpPr>
        <p:spPr>
          <a:xfrm>
            <a:off x="6400800" y="1920240"/>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800" b="1">
                <a:latin typeface="Aptos"/>
              </a:defRPr>
            </a:pPr>
            <a:r>
              <a:rPr sz="1400" dirty="0">
                <a:solidFill>
                  <a:schemeClr val="tx1"/>
                </a:solidFill>
              </a:rPr>
              <a:t>KMP / Rabin-Karp</a:t>
            </a:r>
          </a:p>
        </p:txBody>
      </p:sp>
      <p:sp>
        <p:nvSpPr>
          <p:cNvPr id="45" name="Rectangle 44"/>
          <p:cNvSpPr/>
          <p:nvPr/>
        </p:nvSpPr>
        <p:spPr>
          <a:xfrm>
            <a:off x="8092440" y="1920240"/>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800" b="1">
                <a:latin typeface="Aptos"/>
              </a:defRPr>
            </a:pPr>
            <a:r>
              <a:rPr sz="1400" dirty="0">
                <a:solidFill>
                  <a:schemeClr val="tx1"/>
                </a:solidFill>
              </a:rPr>
              <a:t>Pattern matching</a:t>
            </a:r>
          </a:p>
        </p:txBody>
      </p:sp>
      <p:sp>
        <p:nvSpPr>
          <p:cNvPr id="46" name="Rectangle 45"/>
          <p:cNvSpPr/>
          <p:nvPr/>
        </p:nvSpPr>
        <p:spPr>
          <a:xfrm>
            <a:off x="9784080" y="1920240"/>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800" b="1">
                <a:latin typeface="Aptos"/>
              </a:defRPr>
            </a:pPr>
            <a:r>
              <a:rPr sz="1400" dirty="0">
                <a:solidFill>
                  <a:schemeClr val="tx1"/>
                </a:solidFill>
              </a:rPr>
              <a:t>Duplicate titles</a:t>
            </a:r>
          </a:p>
        </p:txBody>
      </p:sp>
      <p:sp>
        <p:nvSpPr>
          <p:cNvPr id="47" name="Rectangle 46"/>
          <p:cNvSpPr/>
          <p:nvPr/>
        </p:nvSpPr>
        <p:spPr>
          <a:xfrm>
            <a:off x="6400800" y="2633472"/>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900">
                <a:latin typeface="Aptos"/>
              </a:defRPr>
            </a:pPr>
            <a:r>
              <a:rPr sz="1400" dirty="0">
                <a:solidFill>
                  <a:schemeClr val="tx1"/>
                </a:solidFill>
              </a:rPr>
              <a:t>Suffix Array</a:t>
            </a:r>
          </a:p>
        </p:txBody>
      </p:sp>
      <p:sp>
        <p:nvSpPr>
          <p:cNvPr id="48" name="Rectangle 47"/>
          <p:cNvSpPr/>
          <p:nvPr/>
        </p:nvSpPr>
        <p:spPr>
          <a:xfrm>
            <a:off x="8092440" y="2633472"/>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900">
                <a:latin typeface="Aptos"/>
              </a:defRPr>
            </a:pPr>
            <a:r>
              <a:rPr sz="1400" dirty="0">
                <a:solidFill>
                  <a:schemeClr val="tx1"/>
                </a:solidFill>
              </a:rPr>
              <a:t>String similarity</a:t>
            </a:r>
          </a:p>
        </p:txBody>
      </p:sp>
      <p:sp>
        <p:nvSpPr>
          <p:cNvPr id="49" name="Rectangle 48"/>
          <p:cNvSpPr/>
          <p:nvPr/>
        </p:nvSpPr>
        <p:spPr>
          <a:xfrm>
            <a:off x="9784080" y="2633472"/>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900">
                <a:latin typeface="Aptos"/>
              </a:defRPr>
            </a:pPr>
            <a:r>
              <a:rPr sz="1400" dirty="0">
                <a:solidFill>
                  <a:schemeClr val="tx1"/>
                </a:solidFill>
              </a:rPr>
              <a:t>Descriptions</a:t>
            </a:r>
          </a:p>
        </p:txBody>
      </p:sp>
      <p:sp>
        <p:nvSpPr>
          <p:cNvPr id="50" name="Rectangle 49"/>
          <p:cNvSpPr/>
          <p:nvPr/>
        </p:nvSpPr>
        <p:spPr>
          <a:xfrm>
            <a:off x="6400800" y="3346704"/>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900">
                <a:latin typeface="Aptos"/>
              </a:defRPr>
            </a:pPr>
            <a:r>
              <a:rPr sz="1400" dirty="0">
                <a:solidFill>
                  <a:schemeClr val="tx1"/>
                </a:solidFill>
              </a:rPr>
              <a:t>Edit Distance</a:t>
            </a:r>
          </a:p>
        </p:txBody>
      </p:sp>
      <p:sp>
        <p:nvSpPr>
          <p:cNvPr id="51" name="Rectangle 50"/>
          <p:cNvSpPr/>
          <p:nvPr/>
        </p:nvSpPr>
        <p:spPr>
          <a:xfrm>
            <a:off x="8092440" y="3346704"/>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900">
                <a:latin typeface="Aptos"/>
              </a:defRPr>
            </a:pPr>
            <a:r>
              <a:rPr sz="1400" dirty="0">
                <a:solidFill>
                  <a:schemeClr val="tx1"/>
                </a:solidFill>
              </a:rPr>
              <a:t>DP-based difference</a:t>
            </a:r>
          </a:p>
        </p:txBody>
      </p:sp>
      <p:sp>
        <p:nvSpPr>
          <p:cNvPr id="52" name="Rectangle 51"/>
          <p:cNvSpPr/>
          <p:nvPr/>
        </p:nvSpPr>
        <p:spPr>
          <a:xfrm>
            <a:off x="9784080" y="3346704"/>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900">
                <a:latin typeface="Aptos"/>
              </a:defRPr>
            </a:pPr>
            <a:r>
              <a:rPr sz="1400" dirty="0">
                <a:solidFill>
                  <a:schemeClr val="tx1"/>
                </a:solidFill>
              </a:rPr>
              <a:t>Spelling / incomplete names</a:t>
            </a:r>
          </a:p>
        </p:txBody>
      </p:sp>
      <p:sp>
        <p:nvSpPr>
          <p:cNvPr id="53" name="Rectangle 52"/>
          <p:cNvSpPr/>
          <p:nvPr/>
        </p:nvSpPr>
        <p:spPr>
          <a:xfrm>
            <a:off x="6400800" y="4059935"/>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900">
                <a:latin typeface="Aptos"/>
              </a:defRPr>
            </a:pPr>
            <a:r>
              <a:rPr sz="1400" dirty="0">
                <a:solidFill>
                  <a:schemeClr val="tx1"/>
                </a:solidFill>
              </a:rPr>
              <a:t>Graph + Max Flow</a:t>
            </a:r>
          </a:p>
        </p:txBody>
      </p:sp>
      <p:sp>
        <p:nvSpPr>
          <p:cNvPr id="54" name="Rectangle 53"/>
          <p:cNvSpPr/>
          <p:nvPr/>
        </p:nvSpPr>
        <p:spPr>
          <a:xfrm>
            <a:off x="8092440" y="4059935"/>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900">
                <a:latin typeface="Aptos"/>
              </a:defRPr>
            </a:pPr>
            <a:r>
              <a:rPr sz="1400" dirty="0">
                <a:solidFill>
                  <a:schemeClr val="tx1"/>
                </a:solidFill>
              </a:rPr>
              <a:t>Assignment</a:t>
            </a:r>
          </a:p>
        </p:txBody>
      </p:sp>
      <p:sp>
        <p:nvSpPr>
          <p:cNvPr id="55" name="Rectangle 54"/>
          <p:cNvSpPr/>
          <p:nvPr/>
        </p:nvSpPr>
        <p:spPr>
          <a:xfrm>
            <a:off x="9784080" y="4059935"/>
            <a:ext cx="1645920" cy="594360"/>
          </a:xfrm>
          <a:prstGeom prst="rect">
            <a:avLst/>
          </a:prstGeom>
          <a:noFill/>
          <a:ln w="8890"/>
        </p:spPr>
        <p:style>
          <a:lnRef idx="1">
            <a:schemeClr val="accent1"/>
          </a:lnRef>
          <a:fillRef idx="3">
            <a:schemeClr val="accent1"/>
          </a:fillRef>
          <a:effectRef idx="2">
            <a:schemeClr val="accent1"/>
          </a:effectRef>
          <a:fontRef idx="minor">
            <a:schemeClr val="lt1"/>
          </a:fontRef>
        </p:style>
        <p:txBody>
          <a:bodyPr rtlCol="0" anchor="ctr"/>
          <a:lstStyle/>
          <a:p>
            <a:pPr algn="ctr">
              <a:defRPr sz="900">
                <a:latin typeface="Aptos"/>
              </a:defRPr>
            </a:pPr>
            <a:r>
              <a:rPr sz="1400" dirty="0">
                <a:solidFill>
                  <a:schemeClr val="tx1"/>
                </a:solidFill>
              </a:rPr>
              <a:t>Seller → Product</a:t>
            </a:r>
          </a:p>
        </p:txBody>
      </p:sp>
      <p:sp>
        <p:nvSpPr>
          <p:cNvPr id="56" name="TextBox 55"/>
          <p:cNvSpPr txBox="1"/>
          <p:nvPr/>
        </p:nvSpPr>
        <p:spPr>
          <a:xfrm>
            <a:off x="731520" y="6400800"/>
            <a:ext cx="10789920" cy="228600"/>
          </a:xfrm>
          <a:prstGeom prst="rect">
            <a:avLst/>
          </a:prstGeom>
          <a:noFill/>
        </p:spPr>
        <p:txBody>
          <a:bodyPr wrap="none">
            <a:spAutoFit/>
          </a:bodyPr>
          <a:lstStyle/>
          <a:p>
            <a:pPr>
              <a:defRPr sz="850">
                <a:latin typeface="Aptos"/>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txBody>
          <a:bodyPr/>
          <a:lstStyle/>
          <a:p>
            <a:endParaRPr/>
          </a:p>
        </p:txBody>
      </p:sp>
      <p:pic>
        <p:nvPicPr>
          <p:cNvPr id="3" name="Image 0" descr="/home/claude/proj/icons/book.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686081"/>
            <a:ext cx="7315200" cy="45719"/>
          </a:xfrm>
          <a:prstGeom prst="rect">
            <a:avLst/>
          </a:prstGeom>
          <a:noFill/>
          <a:ln/>
        </p:spPr>
        <p:txBody>
          <a:bodyPr wrap="square" rtlCol="0" anchor="ctr"/>
          <a:lstStyle/>
          <a:p>
            <a:pPr marL="0" indent="0">
              <a:buNone/>
              <a:defRPr sz="2600" b="1">
                <a:latin typeface="Aptos Display"/>
              </a:defRPr>
            </a:pPr>
            <a:r>
              <a:rPr dirty="0"/>
              <a:t>PROJECT WORKFLOW</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defRPr sz="1200" b="1">
                <a:latin typeface="Aptos"/>
              </a:defRPr>
            </a:pP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txBody>
          <a:bodyPr/>
          <a:lstStyle/>
          <a:p>
            <a:endParaRPr/>
          </a:p>
        </p:txBody>
      </p:sp>
      <p:sp>
        <p:nvSpPr>
          <p:cNvPr id="7" name="Text 4"/>
          <p:cNvSpPr/>
          <p:nvPr/>
        </p:nvSpPr>
        <p:spPr>
          <a:xfrm>
            <a:off x="502920" y="6528816"/>
            <a:ext cx="7315200" cy="274320"/>
          </a:xfrm>
          <a:prstGeom prst="rect">
            <a:avLst/>
          </a:prstGeom>
          <a:noFill/>
          <a:ln/>
        </p:spPr>
        <p:txBody>
          <a:bodyPr wrap="square" rtlCol="0" anchor="ctr"/>
          <a:lstStyle/>
          <a:p>
            <a:pPr marL="0" indent="0">
              <a:buNone/>
            </a:pP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endParaRPr lang="en-US" sz="900" dirty="0"/>
          </a:p>
        </p:txBody>
      </p:sp>
      <p:sp>
        <p:nvSpPr>
          <p:cNvPr id="9" name="Text 6"/>
          <p:cNvSpPr/>
          <p:nvPr/>
        </p:nvSpPr>
        <p:spPr>
          <a:xfrm>
            <a:off x="502920" y="1481328"/>
            <a:ext cx="11155680" cy="502920"/>
          </a:xfrm>
          <a:prstGeom prst="rect">
            <a:avLst/>
          </a:prstGeom>
          <a:noFill/>
          <a:ln/>
        </p:spPr>
        <p:txBody>
          <a:bodyPr wrap="square" rtlCol="0" anchor="ctr"/>
          <a:lstStyle/>
          <a:p>
            <a:pPr marL="0" indent="0">
              <a:lnSpc>
                <a:spcPct val="115000"/>
              </a:lnSpc>
              <a:buNone/>
            </a:pPr>
            <a:endParaRPr lang="en-US" sz="1300" dirty="0"/>
          </a:p>
        </p:txBody>
      </p:sp>
      <p:sp>
        <p:nvSpPr>
          <p:cNvPr id="11" name="Text 8"/>
          <p:cNvSpPr/>
          <p:nvPr/>
        </p:nvSpPr>
        <p:spPr>
          <a:xfrm>
            <a:off x="612648" y="2148840"/>
            <a:ext cx="3108960" cy="502920"/>
          </a:xfrm>
          <a:prstGeom prst="rect">
            <a:avLst/>
          </a:prstGeom>
          <a:noFill/>
          <a:ln/>
        </p:spPr>
        <p:txBody>
          <a:bodyPr wrap="square" rtlCol="0" anchor="ctr"/>
          <a:lstStyle/>
          <a:p>
            <a:pPr marL="0" indent="0">
              <a:buNone/>
            </a:pPr>
            <a:endParaRPr lang="en-US" sz="1200" dirty="0"/>
          </a:p>
        </p:txBody>
      </p:sp>
      <p:sp>
        <p:nvSpPr>
          <p:cNvPr id="13" name="Text 10"/>
          <p:cNvSpPr/>
          <p:nvPr/>
        </p:nvSpPr>
        <p:spPr>
          <a:xfrm>
            <a:off x="3904488" y="2148840"/>
            <a:ext cx="2194560" cy="502920"/>
          </a:xfrm>
          <a:prstGeom prst="rect">
            <a:avLst/>
          </a:prstGeom>
          <a:noFill/>
          <a:ln/>
        </p:spPr>
        <p:txBody>
          <a:bodyPr wrap="square" rtlCol="0" anchor="ctr"/>
          <a:lstStyle/>
          <a:p>
            <a:pPr marL="0" indent="0">
              <a:buNone/>
            </a:pPr>
            <a:endParaRPr lang="en-US" sz="1200" dirty="0"/>
          </a:p>
        </p:txBody>
      </p:sp>
      <p:sp>
        <p:nvSpPr>
          <p:cNvPr id="15" name="Text 12"/>
          <p:cNvSpPr/>
          <p:nvPr/>
        </p:nvSpPr>
        <p:spPr>
          <a:xfrm>
            <a:off x="6281928" y="2148840"/>
            <a:ext cx="2286000" cy="502920"/>
          </a:xfrm>
          <a:prstGeom prst="rect">
            <a:avLst/>
          </a:prstGeom>
          <a:noFill/>
          <a:ln/>
        </p:spPr>
        <p:txBody>
          <a:bodyPr wrap="square" rtlCol="0" anchor="ctr"/>
          <a:lstStyle/>
          <a:p>
            <a:pPr marL="0" indent="0">
              <a:buNone/>
            </a:pPr>
            <a:endParaRPr lang="en-US" sz="1200" dirty="0"/>
          </a:p>
        </p:txBody>
      </p:sp>
      <p:sp>
        <p:nvSpPr>
          <p:cNvPr id="17" name="Text 14"/>
          <p:cNvSpPr/>
          <p:nvPr/>
        </p:nvSpPr>
        <p:spPr>
          <a:xfrm>
            <a:off x="8750808" y="2148840"/>
            <a:ext cx="2834640" cy="502920"/>
          </a:xfrm>
          <a:prstGeom prst="rect">
            <a:avLst/>
          </a:prstGeom>
          <a:noFill/>
          <a:ln/>
        </p:spPr>
        <p:txBody>
          <a:bodyPr wrap="square" rtlCol="0" anchor="ctr"/>
          <a:lstStyle/>
          <a:p>
            <a:pPr marL="0" indent="0">
              <a:buNone/>
            </a:pPr>
            <a:endParaRPr lang="en-US" sz="1200" dirty="0"/>
          </a:p>
        </p:txBody>
      </p:sp>
      <p:sp>
        <p:nvSpPr>
          <p:cNvPr id="19" name="Text 16"/>
          <p:cNvSpPr/>
          <p:nvPr/>
        </p:nvSpPr>
        <p:spPr>
          <a:xfrm>
            <a:off x="612648" y="2651760"/>
            <a:ext cx="3090672" cy="566928"/>
          </a:xfrm>
          <a:prstGeom prst="rect">
            <a:avLst/>
          </a:prstGeom>
          <a:noFill/>
          <a:ln/>
        </p:spPr>
        <p:txBody>
          <a:bodyPr wrap="square" rtlCol="0" anchor="ctr"/>
          <a:lstStyle/>
          <a:p>
            <a:pPr marL="0" indent="0">
              <a:buNone/>
            </a:pPr>
            <a:endParaRPr lang="en-US" sz="1100" dirty="0"/>
          </a:p>
        </p:txBody>
      </p:sp>
      <p:sp>
        <p:nvSpPr>
          <p:cNvPr id="21" name="Text 18"/>
          <p:cNvSpPr/>
          <p:nvPr/>
        </p:nvSpPr>
        <p:spPr>
          <a:xfrm>
            <a:off x="3904488" y="2651760"/>
            <a:ext cx="2176272" cy="566928"/>
          </a:xfrm>
          <a:prstGeom prst="rect">
            <a:avLst/>
          </a:prstGeom>
          <a:noFill/>
          <a:ln/>
        </p:spPr>
        <p:txBody>
          <a:bodyPr wrap="square" rtlCol="0" anchor="ctr"/>
          <a:lstStyle/>
          <a:p>
            <a:pPr marL="0" indent="0">
              <a:buNone/>
            </a:pPr>
            <a:endParaRPr lang="en-US" sz="1100" dirty="0"/>
          </a:p>
        </p:txBody>
      </p:sp>
      <p:sp>
        <p:nvSpPr>
          <p:cNvPr id="23" name="Text 20"/>
          <p:cNvSpPr/>
          <p:nvPr/>
        </p:nvSpPr>
        <p:spPr>
          <a:xfrm>
            <a:off x="6281928" y="2651760"/>
            <a:ext cx="2267712" cy="566928"/>
          </a:xfrm>
          <a:prstGeom prst="rect">
            <a:avLst/>
          </a:prstGeom>
          <a:noFill/>
          <a:ln/>
        </p:spPr>
        <p:txBody>
          <a:bodyPr wrap="square" rtlCol="0" anchor="ctr"/>
          <a:lstStyle/>
          <a:p>
            <a:pPr marL="0" indent="0">
              <a:buNone/>
            </a:pPr>
            <a:endParaRPr lang="en-US" sz="1100" dirty="0"/>
          </a:p>
        </p:txBody>
      </p:sp>
      <p:sp>
        <p:nvSpPr>
          <p:cNvPr id="25" name="Text 22"/>
          <p:cNvSpPr/>
          <p:nvPr/>
        </p:nvSpPr>
        <p:spPr>
          <a:xfrm>
            <a:off x="8750808" y="2651760"/>
            <a:ext cx="2816352" cy="566928"/>
          </a:xfrm>
          <a:prstGeom prst="rect">
            <a:avLst/>
          </a:prstGeom>
          <a:noFill/>
          <a:ln/>
        </p:spPr>
        <p:txBody>
          <a:bodyPr wrap="square" rtlCol="0" anchor="ctr"/>
          <a:lstStyle/>
          <a:p>
            <a:pPr marL="0" indent="0">
              <a:buNone/>
            </a:pPr>
            <a:endParaRPr lang="en-US" sz="1100" dirty="0"/>
          </a:p>
        </p:txBody>
      </p:sp>
      <p:sp>
        <p:nvSpPr>
          <p:cNvPr id="27" name="Text 24"/>
          <p:cNvSpPr/>
          <p:nvPr/>
        </p:nvSpPr>
        <p:spPr>
          <a:xfrm>
            <a:off x="612648" y="3218688"/>
            <a:ext cx="3090672" cy="566928"/>
          </a:xfrm>
          <a:prstGeom prst="rect">
            <a:avLst/>
          </a:prstGeom>
          <a:noFill/>
          <a:ln/>
        </p:spPr>
        <p:txBody>
          <a:bodyPr wrap="square" rtlCol="0" anchor="ctr"/>
          <a:lstStyle/>
          <a:p>
            <a:pPr marL="0" indent="0">
              <a:buNone/>
            </a:pPr>
            <a:endParaRPr lang="en-US" sz="1100" dirty="0"/>
          </a:p>
        </p:txBody>
      </p:sp>
      <p:sp>
        <p:nvSpPr>
          <p:cNvPr id="29" name="Text 26"/>
          <p:cNvSpPr/>
          <p:nvPr/>
        </p:nvSpPr>
        <p:spPr>
          <a:xfrm>
            <a:off x="3904488" y="3218688"/>
            <a:ext cx="2176272" cy="566928"/>
          </a:xfrm>
          <a:prstGeom prst="rect">
            <a:avLst/>
          </a:prstGeom>
          <a:noFill/>
          <a:ln/>
        </p:spPr>
        <p:txBody>
          <a:bodyPr wrap="square" rtlCol="0" anchor="ctr"/>
          <a:lstStyle/>
          <a:p>
            <a:pPr marL="0" indent="0">
              <a:buNone/>
            </a:pPr>
            <a:endParaRPr lang="en-US" sz="1100" dirty="0"/>
          </a:p>
        </p:txBody>
      </p:sp>
      <p:sp>
        <p:nvSpPr>
          <p:cNvPr id="31" name="Text 28"/>
          <p:cNvSpPr/>
          <p:nvPr/>
        </p:nvSpPr>
        <p:spPr>
          <a:xfrm>
            <a:off x="6281928" y="3218688"/>
            <a:ext cx="2267712" cy="566928"/>
          </a:xfrm>
          <a:prstGeom prst="rect">
            <a:avLst/>
          </a:prstGeom>
          <a:noFill/>
          <a:ln/>
        </p:spPr>
        <p:txBody>
          <a:bodyPr wrap="square" rtlCol="0" anchor="ctr"/>
          <a:lstStyle/>
          <a:p>
            <a:pPr marL="0" indent="0">
              <a:buNone/>
            </a:pPr>
            <a:endParaRPr lang="en-US" sz="1100" dirty="0"/>
          </a:p>
        </p:txBody>
      </p:sp>
      <p:sp>
        <p:nvSpPr>
          <p:cNvPr id="33" name="Text 30"/>
          <p:cNvSpPr/>
          <p:nvPr/>
        </p:nvSpPr>
        <p:spPr>
          <a:xfrm>
            <a:off x="8750808" y="3218688"/>
            <a:ext cx="2816352" cy="566928"/>
          </a:xfrm>
          <a:prstGeom prst="rect">
            <a:avLst/>
          </a:prstGeom>
          <a:noFill/>
          <a:ln/>
        </p:spPr>
        <p:txBody>
          <a:bodyPr wrap="square" rtlCol="0" anchor="ctr"/>
          <a:lstStyle/>
          <a:p>
            <a:pPr marL="0" indent="0">
              <a:buNone/>
            </a:pPr>
            <a:endParaRPr lang="en-US" sz="1100" dirty="0"/>
          </a:p>
        </p:txBody>
      </p:sp>
      <p:sp>
        <p:nvSpPr>
          <p:cNvPr id="35" name="Text 32"/>
          <p:cNvSpPr/>
          <p:nvPr/>
        </p:nvSpPr>
        <p:spPr>
          <a:xfrm>
            <a:off x="612648" y="3785616"/>
            <a:ext cx="3090672" cy="566928"/>
          </a:xfrm>
          <a:prstGeom prst="rect">
            <a:avLst/>
          </a:prstGeom>
          <a:noFill/>
          <a:ln/>
        </p:spPr>
        <p:txBody>
          <a:bodyPr wrap="square" rtlCol="0" anchor="ctr"/>
          <a:lstStyle/>
          <a:p>
            <a:pPr marL="0" indent="0">
              <a:buNone/>
            </a:pPr>
            <a:endParaRPr lang="en-US" sz="1100" dirty="0"/>
          </a:p>
        </p:txBody>
      </p:sp>
      <p:sp>
        <p:nvSpPr>
          <p:cNvPr id="37" name="Text 34"/>
          <p:cNvSpPr/>
          <p:nvPr/>
        </p:nvSpPr>
        <p:spPr>
          <a:xfrm>
            <a:off x="3904488" y="3785616"/>
            <a:ext cx="2176272" cy="566928"/>
          </a:xfrm>
          <a:prstGeom prst="rect">
            <a:avLst/>
          </a:prstGeom>
          <a:noFill/>
          <a:ln/>
        </p:spPr>
        <p:txBody>
          <a:bodyPr wrap="square" rtlCol="0" anchor="ctr"/>
          <a:lstStyle/>
          <a:p>
            <a:pPr marL="0" indent="0">
              <a:buNone/>
            </a:pPr>
            <a:endParaRPr lang="en-US" sz="1100" dirty="0"/>
          </a:p>
        </p:txBody>
      </p:sp>
      <p:sp>
        <p:nvSpPr>
          <p:cNvPr id="39" name="Text 36"/>
          <p:cNvSpPr/>
          <p:nvPr/>
        </p:nvSpPr>
        <p:spPr>
          <a:xfrm>
            <a:off x="6281928" y="3785616"/>
            <a:ext cx="2267712" cy="566928"/>
          </a:xfrm>
          <a:prstGeom prst="rect">
            <a:avLst/>
          </a:prstGeom>
          <a:noFill/>
          <a:ln/>
        </p:spPr>
        <p:txBody>
          <a:bodyPr wrap="square" rtlCol="0" anchor="ctr"/>
          <a:lstStyle/>
          <a:p>
            <a:pPr marL="0" indent="0">
              <a:buNone/>
            </a:pPr>
            <a:endParaRPr lang="en-US" sz="1100" dirty="0"/>
          </a:p>
        </p:txBody>
      </p:sp>
      <p:sp>
        <p:nvSpPr>
          <p:cNvPr id="41" name="Text 38"/>
          <p:cNvSpPr/>
          <p:nvPr/>
        </p:nvSpPr>
        <p:spPr>
          <a:xfrm>
            <a:off x="8750808" y="3785616"/>
            <a:ext cx="2816352" cy="566928"/>
          </a:xfrm>
          <a:prstGeom prst="rect">
            <a:avLst/>
          </a:prstGeom>
          <a:noFill/>
          <a:ln/>
        </p:spPr>
        <p:txBody>
          <a:bodyPr wrap="square" rtlCol="0" anchor="ctr"/>
          <a:lstStyle/>
          <a:p>
            <a:pPr marL="0" indent="0">
              <a:buNone/>
            </a:pPr>
            <a:endParaRPr lang="en-US" sz="1100" dirty="0"/>
          </a:p>
        </p:txBody>
      </p:sp>
      <p:sp>
        <p:nvSpPr>
          <p:cNvPr id="43" name="Text 40"/>
          <p:cNvSpPr/>
          <p:nvPr/>
        </p:nvSpPr>
        <p:spPr>
          <a:xfrm>
            <a:off x="612648" y="4352544"/>
            <a:ext cx="3090672" cy="566928"/>
          </a:xfrm>
          <a:prstGeom prst="rect">
            <a:avLst/>
          </a:prstGeom>
          <a:noFill/>
          <a:ln/>
        </p:spPr>
        <p:txBody>
          <a:bodyPr wrap="square" rtlCol="0" anchor="ctr"/>
          <a:lstStyle/>
          <a:p>
            <a:pPr marL="0" indent="0">
              <a:buNone/>
            </a:pPr>
            <a:endParaRPr lang="en-US" sz="1100" dirty="0"/>
          </a:p>
        </p:txBody>
      </p:sp>
      <p:sp>
        <p:nvSpPr>
          <p:cNvPr id="45" name="Text 42"/>
          <p:cNvSpPr/>
          <p:nvPr/>
        </p:nvSpPr>
        <p:spPr>
          <a:xfrm>
            <a:off x="3904488" y="4352544"/>
            <a:ext cx="2176272" cy="566928"/>
          </a:xfrm>
          <a:prstGeom prst="rect">
            <a:avLst/>
          </a:prstGeom>
          <a:noFill/>
          <a:ln/>
        </p:spPr>
        <p:txBody>
          <a:bodyPr wrap="square" rtlCol="0" anchor="ctr"/>
          <a:lstStyle/>
          <a:p>
            <a:pPr marL="0" indent="0">
              <a:buNone/>
            </a:pPr>
            <a:endParaRPr lang="en-US" sz="1100" dirty="0"/>
          </a:p>
        </p:txBody>
      </p:sp>
      <p:sp>
        <p:nvSpPr>
          <p:cNvPr id="47" name="Text 44"/>
          <p:cNvSpPr/>
          <p:nvPr/>
        </p:nvSpPr>
        <p:spPr>
          <a:xfrm>
            <a:off x="6281928" y="4352544"/>
            <a:ext cx="2267712" cy="566928"/>
          </a:xfrm>
          <a:prstGeom prst="rect">
            <a:avLst/>
          </a:prstGeom>
          <a:noFill/>
          <a:ln/>
        </p:spPr>
        <p:txBody>
          <a:bodyPr wrap="square" rtlCol="0" anchor="ctr"/>
          <a:lstStyle/>
          <a:p>
            <a:pPr marL="0" indent="0">
              <a:buNone/>
            </a:pPr>
            <a:endParaRPr lang="en-US" sz="1100" dirty="0"/>
          </a:p>
        </p:txBody>
      </p:sp>
      <p:sp>
        <p:nvSpPr>
          <p:cNvPr id="49" name="Text 46"/>
          <p:cNvSpPr/>
          <p:nvPr/>
        </p:nvSpPr>
        <p:spPr>
          <a:xfrm>
            <a:off x="8750808" y="4352544"/>
            <a:ext cx="2816352" cy="566928"/>
          </a:xfrm>
          <a:prstGeom prst="rect">
            <a:avLst/>
          </a:prstGeom>
          <a:noFill/>
          <a:ln/>
        </p:spPr>
        <p:txBody>
          <a:bodyPr wrap="square" rtlCol="0" anchor="ctr"/>
          <a:lstStyle/>
          <a:p>
            <a:pPr marL="0" indent="0">
              <a:buNone/>
            </a:pPr>
            <a:endParaRPr lang="en-US" sz="1100" dirty="0"/>
          </a:p>
        </p:txBody>
      </p:sp>
      <p:sp>
        <p:nvSpPr>
          <p:cNvPr id="51" name="Text 48"/>
          <p:cNvSpPr/>
          <p:nvPr/>
        </p:nvSpPr>
        <p:spPr>
          <a:xfrm>
            <a:off x="731520" y="5148072"/>
            <a:ext cx="10698480" cy="621792"/>
          </a:xfrm>
          <a:prstGeom prst="rect">
            <a:avLst/>
          </a:prstGeom>
          <a:noFill/>
          <a:ln/>
        </p:spPr>
        <p:txBody>
          <a:bodyPr wrap="square" rtlCol="0" anchor="ctr"/>
          <a:lstStyle/>
          <a:p>
            <a:pPr marL="0" indent="0">
              <a:buNone/>
            </a:pPr>
            <a:endParaRPr lang="en-US" sz="1200" dirty="0"/>
          </a:p>
        </p:txBody>
      </p:sp>
      <p:sp>
        <p:nvSpPr>
          <p:cNvPr id="52" name="TextBox 51"/>
          <p:cNvSpPr txBox="1"/>
          <p:nvPr/>
        </p:nvSpPr>
        <p:spPr>
          <a:xfrm>
            <a:off x="502920" y="1555041"/>
            <a:ext cx="10607040" cy="3840480"/>
          </a:xfrm>
          <a:prstGeom prst="rect">
            <a:avLst/>
          </a:prstGeom>
          <a:noFill/>
        </p:spPr>
        <p:txBody>
          <a:bodyPr wrap="square">
            <a:spAutoFit/>
          </a:bodyPr>
          <a:lstStyle/>
          <a:p>
            <a:pPr>
              <a:spcAft>
                <a:spcPts val="900"/>
              </a:spcAft>
              <a:defRPr sz="1800">
                <a:latin typeface="Aptos"/>
              </a:defRPr>
            </a:pPr>
            <a:r>
              <a:rPr dirty="0"/>
              <a:t>1  Collect seller product listings</a:t>
            </a:r>
          </a:p>
          <a:p>
            <a:pPr>
              <a:spcAft>
                <a:spcPts val="900"/>
              </a:spcAft>
              <a:defRPr sz="1800">
                <a:latin typeface="Aptos"/>
              </a:defRPr>
            </a:pPr>
            <a:r>
              <a:rPr dirty="0"/>
              <a:t>2  </a:t>
            </a:r>
            <a:r>
              <a:rPr dirty="0" err="1"/>
              <a:t>Analyse</a:t>
            </a:r>
            <a:r>
              <a:rPr dirty="0"/>
              <a:t> titles and descriptions</a:t>
            </a:r>
          </a:p>
          <a:p>
            <a:pPr>
              <a:spcAft>
                <a:spcPts val="900"/>
              </a:spcAft>
              <a:defRPr sz="1800">
                <a:latin typeface="Aptos"/>
              </a:defRPr>
            </a:pPr>
            <a:r>
              <a:rPr dirty="0"/>
              <a:t>3  Detect duplicate / matching text</a:t>
            </a:r>
          </a:p>
          <a:p>
            <a:pPr>
              <a:spcAft>
                <a:spcPts val="900"/>
              </a:spcAft>
              <a:defRPr sz="1800">
                <a:latin typeface="Aptos"/>
              </a:defRPr>
            </a:pPr>
            <a:r>
              <a:rPr dirty="0"/>
              <a:t>4  Measure similarity and edit differences</a:t>
            </a:r>
          </a:p>
          <a:p>
            <a:pPr>
              <a:spcAft>
                <a:spcPts val="900"/>
              </a:spcAft>
              <a:defRPr sz="1800">
                <a:latin typeface="Aptos"/>
              </a:defRPr>
            </a:pPr>
            <a:r>
              <a:rPr dirty="0"/>
              <a:t>5  Build seller–product bipartite graph</a:t>
            </a:r>
          </a:p>
          <a:p>
            <a:pPr>
              <a:spcAft>
                <a:spcPts val="900"/>
              </a:spcAft>
              <a:defRPr sz="1800">
                <a:latin typeface="Aptos"/>
              </a:defRPr>
            </a:pPr>
            <a:r>
              <a:rPr dirty="0"/>
              <a:t>6  Assign listings to canonical products</a:t>
            </a:r>
          </a:p>
          <a:p>
            <a:pPr>
              <a:spcAft>
                <a:spcPts val="900"/>
              </a:spcAft>
              <a:defRPr sz="1800">
                <a:latin typeface="Aptos"/>
              </a:defRPr>
            </a:pPr>
            <a:r>
              <a:rPr dirty="0"/>
              <a:t>7  Scale using hashing and parallel processing</a:t>
            </a:r>
          </a:p>
        </p:txBody>
      </p:sp>
      <p:sp>
        <p:nvSpPr>
          <p:cNvPr id="53" name="TextBox 52"/>
          <p:cNvSpPr txBox="1"/>
          <p:nvPr/>
        </p:nvSpPr>
        <p:spPr>
          <a:xfrm>
            <a:off x="731520" y="6400800"/>
            <a:ext cx="10789920" cy="228600"/>
          </a:xfrm>
          <a:prstGeom prst="rect">
            <a:avLst/>
          </a:prstGeom>
          <a:noFill/>
        </p:spPr>
        <p:txBody>
          <a:bodyPr wrap="none">
            <a:spAutoFit/>
          </a:bodyPr>
          <a:lstStyle/>
          <a:p>
            <a:pPr>
              <a:defRPr sz="850">
                <a:latin typeface="Aptos"/>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txBody>
          <a:bodyPr/>
          <a:lstStyle/>
          <a:p>
            <a:endParaRPr/>
          </a:p>
        </p:txBody>
      </p:sp>
      <p:pic>
        <p:nvPicPr>
          <p:cNvPr id="3" name="Image 0" descr="/home/claude/proj/icons/sitemap.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defRPr sz="2600" b="1">
                <a:latin typeface="Aptos Display"/>
              </a:defRPr>
            </a:pPr>
            <a:r>
              <a:t>TECHNOLOGY &amp; ALGORITHMS USED</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defRPr sz="1200" b="1">
                <a:latin typeface="Aptos"/>
              </a:defRPr>
            </a:pPr>
            <a:r>
              <a:t>Implementation Approach</a:t>
            </a: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txBody>
          <a:bodyPr/>
          <a:lstStyle/>
          <a:p>
            <a:endParaRPr/>
          </a:p>
        </p:txBody>
      </p:sp>
      <p:sp>
        <p:nvSpPr>
          <p:cNvPr id="7" name="Text 4"/>
          <p:cNvSpPr/>
          <p:nvPr/>
        </p:nvSpPr>
        <p:spPr>
          <a:xfrm>
            <a:off x="502920" y="6528816"/>
            <a:ext cx="7315200" cy="274320"/>
          </a:xfrm>
          <a:prstGeom prst="rect">
            <a:avLst/>
          </a:prstGeom>
          <a:noFill/>
          <a:ln/>
        </p:spPr>
        <p:txBody>
          <a:bodyPr wrap="square" rtlCol="0" anchor="ctr"/>
          <a:lstStyle/>
          <a:p>
            <a:pPr marL="0" indent="0">
              <a:buNone/>
            </a:pP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endParaRPr lang="en-US" sz="900" dirty="0"/>
          </a:p>
        </p:txBody>
      </p:sp>
      <p:sp>
        <p:nvSpPr>
          <p:cNvPr id="10" name="Text 7"/>
          <p:cNvSpPr/>
          <p:nvPr/>
        </p:nvSpPr>
        <p:spPr>
          <a:xfrm>
            <a:off x="502920" y="1783080"/>
            <a:ext cx="457200" cy="457200"/>
          </a:xfrm>
          <a:prstGeom prst="rect">
            <a:avLst/>
          </a:prstGeom>
          <a:noFill/>
          <a:ln/>
        </p:spPr>
        <p:txBody>
          <a:bodyPr wrap="square" rtlCol="0" anchor="ctr"/>
          <a:lstStyle/>
          <a:p>
            <a:pPr marL="0" indent="0" algn="ctr">
              <a:buNone/>
            </a:pPr>
            <a:endParaRPr lang="en-US" sz="1600" dirty="0"/>
          </a:p>
        </p:txBody>
      </p:sp>
      <p:sp>
        <p:nvSpPr>
          <p:cNvPr id="11" name="Text 8"/>
          <p:cNvSpPr/>
          <p:nvPr/>
        </p:nvSpPr>
        <p:spPr>
          <a:xfrm>
            <a:off x="1124712" y="1728216"/>
            <a:ext cx="4722876" cy="566928"/>
          </a:xfrm>
          <a:prstGeom prst="rect">
            <a:avLst/>
          </a:prstGeom>
          <a:noFill/>
          <a:ln/>
        </p:spPr>
        <p:txBody>
          <a:bodyPr wrap="square" rtlCol="0" anchor="ctr"/>
          <a:lstStyle/>
          <a:p>
            <a:pPr marL="0" indent="0">
              <a:lnSpc>
                <a:spcPct val="110000"/>
              </a:lnSpc>
              <a:buNone/>
            </a:pPr>
            <a:endParaRPr lang="en-US" sz="1300" dirty="0"/>
          </a:p>
        </p:txBody>
      </p:sp>
      <p:sp>
        <p:nvSpPr>
          <p:cNvPr id="12" name="Shape 9"/>
          <p:cNvSpPr/>
          <p:nvPr/>
        </p:nvSpPr>
        <p:spPr>
          <a:xfrm>
            <a:off x="731520" y="2240280"/>
            <a:ext cx="0" cy="502920"/>
          </a:xfrm>
          <a:prstGeom prst="line">
            <a:avLst/>
          </a:prstGeom>
          <a:noFill/>
          <a:ln w="19050">
            <a:solidFill>
              <a:srgbClr val="E3E8F2"/>
            </a:solidFill>
            <a:prstDash val="dash"/>
          </a:ln>
        </p:spPr>
        <p:txBody>
          <a:bodyPr/>
          <a:lstStyle/>
          <a:p>
            <a:endParaRPr/>
          </a:p>
        </p:txBody>
      </p:sp>
      <p:sp>
        <p:nvSpPr>
          <p:cNvPr id="14" name="Text 11"/>
          <p:cNvSpPr/>
          <p:nvPr/>
        </p:nvSpPr>
        <p:spPr>
          <a:xfrm>
            <a:off x="502920" y="2743200"/>
            <a:ext cx="457200" cy="457200"/>
          </a:xfrm>
          <a:prstGeom prst="rect">
            <a:avLst/>
          </a:prstGeom>
          <a:noFill/>
          <a:ln/>
        </p:spPr>
        <p:txBody>
          <a:bodyPr wrap="square" rtlCol="0" anchor="ctr"/>
          <a:lstStyle/>
          <a:p>
            <a:pPr marL="0" indent="0" algn="ctr">
              <a:buNone/>
            </a:pPr>
            <a:endParaRPr lang="en-US" sz="1600" dirty="0"/>
          </a:p>
        </p:txBody>
      </p:sp>
      <p:sp>
        <p:nvSpPr>
          <p:cNvPr id="15" name="Text 12"/>
          <p:cNvSpPr/>
          <p:nvPr/>
        </p:nvSpPr>
        <p:spPr>
          <a:xfrm>
            <a:off x="1124712" y="2688336"/>
            <a:ext cx="4722876" cy="566928"/>
          </a:xfrm>
          <a:prstGeom prst="rect">
            <a:avLst/>
          </a:prstGeom>
          <a:noFill/>
          <a:ln/>
        </p:spPr>
        <p:txBody>
          <a:bodyPr wrap="square" rtlCol="0" anchor="ctr"/>
          <a:lstStyle/>
          <a:p>
            <a:pPr marL="0" indent="0">
              <a:lnSpc>
                <a:spcPct val="110000"/>
              </a:lnSpc>
              <a:buNone/>
            </a:pPr>
            <a:endParaRPr lang="en-US" sz="1300" dirty="0"/>
          </a:p>
        </p:txBody>
      </p:sp>
      <p:sp>
        <p:nvSpPr>
          <p:cNvPr id="16" name="Shape 13"/>
          <p:cNvSpPr/>
          <p:nvPr/>
        </p:nvSpPr>
        <p:spPr>
          <a:xfrm>
            <a:off x="731520" y="3200400"/>
            <a:ext cx="0" cy="502920"/>
          </a:xfrm>
          <a:prstGeom prst="line">
            <a:avLst/>
          </a:prstGeom>
          <a:noFill/>
          <a:ln w="19050">
            <a:solidFill>
              <a:srgbClr val="E3E8F2"/>
            </a:solidFill>
            <a:prstDash val="dash"/>
          </a:ln>
        </p:spPr>
        <p:txBody>
          <a:bodyPr/>
          <a:lstStyle/>
          <a:p>
            <a:endParaRPr/>
          </a:p>
        </p:txBody>
      </p:sp>
      <p:sp>
        <p:nvSpPr>
          <p:cNvPr id="18" name="Text 15"/>
          <p:cNvSpPr/>
          <p:nvPr/>
        </p:nvSpPr>
        <p:spPr>
          <a:xfrm>
            <a:off x="502920" y="3703320"/>
            <a:ext cx="457200" cy="457200"/>
          </a:xfrm>
          <a:prstGeom prst="rect">
            <a:avLst/>
          </a:prstGeom>
          <a:noFill/>
          <a:ln/>
        </p:spPr>
        <p:txBody>
          <a:bodyPr wrap="square" rtlCol="0" anchor="ctr"/>
          <a:lstStyle/>
          <a:p>
            <a:pPr marL="0" indent="0" algn="ctr">
              <a:buNone/>
            </a:pPr>
            <a:endParaRPr lang="en-US" sz="1600" dirty="0"/>
          </a:p>
        </p:txBody>
      </p:sp>
      <p:sp>
        <p:nvSpPr>
          <p:cNvPr id="19" name="Text 16"/>
          <p:cNvSpPr/>
          <p:nvPr/>
        </p:nvSpPr>
        <p:spPr>
          <a:xfrm>
            <a:off x="1124712" y="3648456"/>
            <a:ext cx="4722876" cy="566928"/>
          </a:xfrm>
          <a:prstGeom prst="rect">
            <a:avLst/>
          </a:prstGeom>
          <a:noFill/>
          <a:ln/>
        </p:spPr>
        <p:txBody>
          <a:bodyPr wrap="square" rtlCol="0" anchor="ctr"/>
          <a:lstStyle/>
          <a:p>
            <a:pPr marL="0" indent="0">
              <a:lnSpc>
                <a:spcPct val="110000"/>
              </a:lnSpc>
              <a:buNone/>
            </a:pPr>
            <a:endParaRPr lang="en-US" sz="1300" dirty="0"/>
          </a:p>
        </p:txBody>
      </p:sp>
      <p:sp>
        <p:nvSpPr>
          <p:cNvPr id="20" name="Shape 17"/>
          <p:cNvSpPr/>
          <p:nvPr/>
        </p:nvSpPr>
        <p:spPr>
          <a:xfrm>
            <a:off x="731520" y="4160520"/>
            <a:ext cx="0" cy="502920"/>
          </a:xfrm>
          <a:prstGeom prst="line">
            <a:avLst/>
          </a:prstGeom>
          <a:noFill/>
          <a:ln w="19050">
            <a:solidFill>
              <a:srgbClr val="E3E8F2"/>
            </a:solidFill>
            <a:prstDash val="dash"/>
          </a:ln>
        </p:spPr>
        <p:txBody>
          <a:bodyPr/>
          <a:lstStyle/>
          <a:p>
            <a:endParaRPr/>
          </a:p>
        </p:txBody>
      </p:sp>
      <p:sp>
        <p:nvSpPr>
          <p:cNvPr id="22" name="Text 19"/>
          <p:cNvSpPr/>
          <p:nvPr/>
        </p:nvSpPr>
        <p:spPr>
          <a:xfrm>
            <a:off x="502920" y="4663440"/>
            <a:ext cx="457200" cy="457200"/>
          </a:xfrm>
          <a:prstGeom prst="rect">
            <a:avLst/>
          </a:prstGeom>
          <a:noFill/>
          <a:ln/>
        </p:spPr>
        <p:txBody>
          <a:bodyPr wrap="square" rtlCol="0" anchor="ctr"/>
          <a:lstStyle/>
          <a:p>
            <a:pPr marL="0" indent="0" algn="ctr">
              <a:buNone/>
            </a:pPr>
            <a:endParaRPr lang="en-US" sz="1600" dirty="0"/>
          </a:p>
        </p:txBody>
      </p:sp>
      <p:sp>
        <p:nvSpPr>
          <p:cNvPr id="23" name="Text 20"/>
          <p:cNvSpPr/>
          <p:nvPr/>
        </p:nvSpPr>
        <p:spPr>
          <a:xfrm>
            <a:off x="1124712" y="4608576"/>
            <a:ext cx="4722876" cy="566928"/>
          </a:xfrm>
          <a:prstGeom prst="rect">
            <a:avLst/>
          </a:prstGeom>
          <a:noFill/>
          <a:ln/>
        </p:spPr>
        <p:txBody>
          <a:bodyPr wrap="square" rtlCol="0" anchor="ctr"/>
          <a:lstStyle/>
          <a:p>
            <a:pPr marL="0" indent="0">
              <a:lnSpc>
                <a:spcPct val="110000"/>
              </a:lnSpc>
              <a:buNone/>
            </a:pPr>
            <a:endParaRPr lang="en-US" sz="1300" dirty="0"/>
          </a:p>
        </p:txBody>
      </p:sp>
      <p:sp>
        <p:nvSpPr>
          <p:cNvPr id="25" name="Text 22"/>
          <p:cNvSpPr/>
          <p:nvPr/>
        </p:nvSpPr>
        <p:spPr>
          <a:xfrm>
            <a:off x="6323076" y="1783080"/>
            <a:ext cx="457200" cy="457200"/>
          </a:xfrm>
          <a:prstGeom prst="rect">
            <a:avLst/>
          </a:prstGeom>
          <a:noFill/>
          <a:ln/>
        </p:spPr>
        <p:txBody>
          <a:bodyPr wrap="square" rtlCol="0" anchor="ctr"/>
          <a:lstStyle/>
          <a:p>
            <a:pPr marL="0" indent="0" algn="ctr">
              <a:buNone/>
            </a:pPr>
            <a:endParaRPr lang="en-US" sz="1600" dirty="0"/>
          </a:p>
        </p:txBody>
      </p:sp>
      <p:sp>
        <p:nvSpPr>
          <p:cNvPr id="26" name="Text 23"/>
          <p:cNvSpPr/>
          <p:nvPr/>
        </p:nvSpPr>
        <p:spPr>
          <a:xfrm>
            <a:off x="6944868" y="1728216"/>
            <a:ext cx="4722876" cy="566928"/>
          </a:xfrm>
          <a:prstGeom prst="rect">
            <a:avLst/>
          </a:prstGeom>
          <a:noFill/>
          <a:ln/>
        </p:spPr>
        <p:txBody>
          <a:bodyPr wrap="square" rtlCol="0" anchor="ctr"/>
          <a:lstStyle/>
          <a:p>
            <a:pPr marL="0" indent="0">
              <a:lnSpc>
                <a:spcPct val="110000"/>
              </a:lnSpc>
              <a:buNone/>
            </a:pPr>
            <a:endParaRPr lang="en-US" sz="1300" dirty="0"/>
          </a:p>
        </p:txBody>
      </p:sp>
      <p:sp>
        <p:nvSpPr>
          <p:cNvPr id="27" name="Shape 24"/>
          <p:cNvSpPr/>
          <p:nvPr/>
        </p:nvSpPr>
        <p:spPr>
          <a:xfrm>
            <a:off x="6551676" y="2240280"/>
            <a:ext cx="0" cy="502920"/>
          </a:xfrm>
          <a:prstGeom prst="line">
            <a:avLst/>
          </a:prstGeom>
          <a:noFill/>
          <a:ln w="19050">
            <a:solidFill>
              <a:srgbClr val="E3E8F2"/>
            </a:solidFill>
            <a:prstDash val="dash"/>
          </a:ln>
        </p:spPr>
        <p:txBody>
          <a:bodyPr/>
          <a:lstStyle/>
          <a:p>
            <a:endParaRPr/>
          </a:p>
        </p:txBody>
      </p:sp>
      <p:sp>
        <p:nvSpPr>
          <p:cNvPr id="29" name="Text 26"/>
          <p:cNvSpPr/>
          <p:nvPr/>
        </p:nvSpPr>
        <p:spPr>
          <a:xfrm>
            <a:off x="6323076" y="2743200"/>
            <a:ext cx="457200" cy="457200"/>
          </a:xfrm>
          <a:prstGeom prst="rect">
            <a:avLst/>
          </a:prstGeom>
          <a:noFill/>
          <a:ln/>
        </p:spPr>
        <p:txBody>
          <a:bodyPr wrap="square" rtlCol="0" anchor="ctr"/>
          <a:lstStyle/>
          <a:p>
            <a:pPr marL="0" indent="0" algn="ctr">
              <a:buNone/>
            </a:pPr>
            <a:endParaRPr lang="en-US" sz="1600" dirty="0"/>
          </a:p>
        </p:txBody>
      </p:sp>
      <p:sp>
        <p:nvSpPr>
          <p:cNvPr id="30" name="Text 27"/>
          <p:cNvSpPr/>
          <p:nvPr/>
        </p:nvSpPr>
        <p:spPr>
          <a:xfrm>
            <a:off x="6944868" y="2688336"/>
            <a:ext cx="4722876" cy="566928"/>
          </a:xfrm>
          <a:prstGeom prst="rect">
            <a:avLst/>
          </a:prstGeom>
          <a:noFill/>
          <a:ln/>
        </p:spPr>
        <p:txBody>
          <a:bodyPr wrap="square" rtlCol="0" anchor="ctr"/>
          <a:lstStyle/>
          <a:p>
            <a:pPr marL="0" indent="0">
              <a:lnSpc>
                <a:spcPct val="110000"/>
              </a:lnSpc>
              <a:buNone/>
            </a:pPr>
            <a:endParaRPr lang="en-US" sz="1300" dirty="0"/>
          </a:p>
        </p:txBody>
      </p:sp>
      <p:sp>
        <p:nvSpPr>
          <p:cNvPr id="31" name="Shape 28"/>
          <p:cNvSpPr/>
          <p:nvPr/>
        </p:nvSpPr>
        <p:spPr>
          <a:xfrm>
            <a:off x="6551676" y="3200400"/>
            <a:ext cx="0" cy="502920"/>
          </a:xfrm>
          <a:prstGeom prst="line">
            <a:avLst/>
          </a:prstGeom>
          <a:noFill/>
          <a:ln w="19050">
            <a:solidFill>
              <a:srgbClr val="E3E8F2"/>
            </a:solidFill>
            <a:prstDash val="dash"/>
          </a:ln>
        </p:spPr>
        <p:txBody>
          <a:bodyPr/>
          <a:lstStyle/>
          <a:p>
            <a:endParaRPr/>
          </a:p>
        </p:txBody>
      </p:sp>
      <p:sp>
        <p:nvSpPr>
          <p:cNvPr id="33" name="Text 30"/>
          <p:cNvSpPr/>
          <p:nvPr/>
        </p:nvSpPr>
        <p:spPr>
          <a:xfrm>
            <a:off x="6323076" y="3703320"/>
            <a:ext cx="457200" cy="457200"/>
          </a:xfrm>
          <a:prstGeom prst="rect">
            <a:avLst/>
          </a:prstGeom>
          <a:noFill/>
          <a:ln/>
        </p:spPr>
        <p:txBody>
          <a:bodyPr wrap="square" rtlCol="0" anchor="ctr"/>
          <a:lstStyle/>
          <a:p>
            <a:pPr marL="0" indent="0" algn="ctr">
              <a:buNone/>
            </a:pPr>
            <a:endParaRPr lang="en-US" sz="1600" dirty="0"/>
          </a:p>
        </p:txBody>
      </p:sp>
      <p:sp>
        <p:nvSpPr>
          <p:cNvPr id="34" name="Text 31"/>
          <p:cNvSpPr/>
          <p:nvPr/>
        </p:nvSpPr>
        <p:spPr>
          <a:xfrm>
            <a:off x="6944868" y="3648456"/>
            <a:ext cx="4722876" cy="566928"/>
          </a:xfrm>
          <a:prstGeom prst="rect">
            <a:avLst/>
          </a:prstGeom>
          <a:noFill/>
          <a:ln/>
        </p:spPr>
        <p:txBody>
          <a:bodyPr wrap="square" rtlCol="0" anchor="ctr"/>
          <a:lstStyle/>
          <a:p>
            <a:pPr marL="0" indent="0">
              <a:lnSpc>
                <a:spcPct val="110000"/>
              </a:lnSpc>
              <a:buNone/>
            </a:pPr>
            <a:endParaRPr lang="en-US" sz="1300" dirty="0"/>
          </a:p>
        </p:txBody>
      </p:sp>
      <p:sp>
        <p:nvSpPr>
          <p:cNvPr id="35" name="Shape 32"/>
          <p:cNvSpPr/>
          <p:nvPr/>
        </p:nvSpPr>
        <p:spPr>
          <a:xfrm>
            <a:off x="502920" y="5806440"/>
            <a:ext cx="11183112" cy="621792"/>
          </a:xfrm>
          <a:prstGeom prst="roundRect">
            <a:avLst>
              <a:gd name="adj" fmla="val 11765"/>
            </a:avLst>
          </a:prstGeom>
          <a:solidFill>
            <a:srgbClr val="1E2761"/>
          </a:solidFill>
          <a:ln/>
        </p:spPr>
        <p:txBody>
          <a:bodyPr/>
          <a:lstStyle/>
          <a:p>
            <a:endParaRPr/>
          </a:p>
        </p:txBody>
      </p:sp>
      <p:sp>
        <p:nvSpPr>
          <p:cNvPr id="36" name="Text 33"/>
          <p:cNvSpPr/>
          <p:nvPr/>
        </p:nvSpPr>
        <p:spPr>
          <a:xfrm>
            <a:off x="777240" y="5806440"/>
            <a:ext cx="10607040" cy="621792"/>
          </a:xfrm>
          <a:prstGeom prst="rect">
            <a:avLst/>
          </a:prstGeom>
          <a:noFill/>
          <a:ln/>
        </p:spPr>
        <p:txBody>
          <a:bodyPr wrap="square" rtlCol="0" anchor="ctr"/>
          <a:lstStyle/>
          <a:p>
            <a:pPr marL="0" indent="0">
              <a:buNone/>
            </a:pPr>
            <a:endParaRPr lang="en-US" sz="1300" dirty="0"/>
          </a:p>
        </p:txBody>
      </p:sp>
      <p:sp>
        <p:nvSpPr>
          <p:cNvPr id="37" name="TextBox 36"/>
          <p:cNvSpPr txBox="1"/>
          <p:nvPr/>
        </p:nvSpPr>
        <p:spPr>
          <a:xfrm>
            <a:off x="731520" y="1356077"/>
            <a:ext cx="9345541" cy="3216265"/>
          </a:xfrm>
          <a:prstGeom prst="rect">
            <a:avLst/>
          </a:prstGeom>
          <a:noFill/>
        </p:spPr>
        <p:txBody>
          <a:bodyPr wrap="square">
            <a:spAutoFit/>
          </a:bodyPr>
          <a:lstStyle/>
          <a:p>
            <a:pPr>
              <a:spcAft>
                <a:spcPts val="1200"/>
              </a:spcAft>
              <a:defRPr sz="1700">
                <a:latin typeface="Aptos"/>
              </a:defRPr>
            </a:pPr>
            <a:r>
              <a:rPr dirty="0"/>
              <a:t>• KMP — efficient pattern matching for product text</a:t>
            </a:r>
          </a:p>
          <a:p>
            <a:pPr>
              <a:spcAft>
                <a:spcPts val="1200"/>
              </a:spcAft>
              <a:defRPr sz="1700">
                <a:latin typeface="Aptos"/>
              </a:defRPr>
            </a:pPr>
            <a:r>
              <a:rPr dirty="0"/>
              <a:t>• Rabin-Karp — hashing-based pattern matching and duplicate title detection.</a:t>
            </a:r>
          </a:p>
          <a:p>
            <a:pPr>
              <a:spcAft>
                <a:spcPts val="1200"/>
              </a:spcAft>
              <a:defRPr sz="1700">
                <a:latin typeface="Aptos"/>
              </a:defRPr>
            </a:pPr>
            <a:r>
              <a:rPr dirty="0"/>
              <a:t>• Suffix Arrays — similarity analysis across product descriptions.</a:t>
            </a:r>
          </a:p>
          <a:p>
            <a:pPr>
              <a:spcAft>
                <a:spcPts val="1200"/>
              </a:spcAft>
              <a:defRPr sz="1700">
                <a:latin typeface="Aptos"/>
              </a:defRPr>
            </a:pPr>
            <a:r>
              <a:rPr dirty="0"/>
              <a:t>• Wagner-Fischer Edit Distance + Dynamic Programming — spelling and incomplete-name resolution.</a:t>
            </a:r>
          </a:p>
          <a:p>
            <a:pPr>
              <a:spcAft>
                <a:spcPts val="1200"/>
              </a:spcAft>
              <a:defRPr sz="1700">
                <a:latin typeface="Aptos"/>
              </a:defRPr>
            </a:pPr>
            <a:r>
              <a:rPr dirty="0"/>
              <a:t>• Bipartite Graph + Edmonds-Karp Maximum Flow — seller-listing assignment to canonical products.</a:t>
            </a:r>
          </a:p>
          <a:p>
            <a:pPr>
              <a:spcAft>
                <a:spcPts val="1200"/>
              </a:spcAft>
              <a:defRPr sz="1700">
                <a:latin typeface="Aptos"/>
              </a:defRPr>
            </a:pPr>
            <a:r>
              <a:rPr dirty="0"/>
              <a:t>• Greedy Approximation + Randomized Hashing + Parallel Processing — scalability and faster duplicate detection.</a:t>
            </a:r>
          </a:p>
        </p:txBody>
      </p:sp>
      <p:sp>
        <p:nvSpPr>
          <p:cNvPr id="38" name="TextBox 37"/>
          <p:cNvSpPr txBox="1"/>
          <p:nvPr/>
        </p:nvSpPr>
        <p:spPr>
          <a:xfrm>
            <a:off x="731520" y="6400800"/>
            <a:ext cx="10789920" cy="228600"/>
          </a:xfrm>
          <a:prstGeom prst="rect">
            <a:avLst/>
          </a:prstGeom>
          <a:noFill/>
        </p:spPr>
        <p:txBody>
          <a:bodyPr wrap="none">
            <a:spAutoFit/>
          </a:bodyPr>
          <a:lstStyle/>
          <a:p>
            <a:pPr>
              <a:defRPr sz="850">
                <a:latin typeface="Aptos"/>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txBody>
          <a:bodyPr/>
          <a:lstStyle/>
          <a:p>
            <a:endParaRPr/>
          </a:p>
        </p:txBody>
      </p:sp>
      <p:pic>
        <p:nvPicPr>
          <p:cNvPr id="3" name="Image 0" descr="/home/claude/proj/icons/sitemap.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402336"/>
            <a:ext cx="7315200" cy="274320"/>
          </a:xfrm>
          <a:prstGeom prst="rect">
            <a:avLst/>
          </a:prstGeom>
          <a:noFill/>
          <a:ln/>
        </p:spPr>
        <p:txBody>
          <a:bodyPr wrap="square" rtlCol="0" anchor="ctr"/>
          <a:lstStyle/>
          <a:p>
            <a:pPr marL="0" indent="0">
              <a:buNone/>
              <a:defRPr sz="2600" b="1">
                <a:latin typeface="Aptos Display"/>
              </a:defRPr>
            </a:pPr>
            <a:r>
              <a:t>EXPECTED OUTCOMES</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defRPr sz="1200" b="1">
                <a:latin typeface="Aptos"/>
              </a:defRPr>
            </a:pPr>
            <a:r>
              <a:t>Benefits &amp; Performance</a:t>
            </a: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txBody>
          <a:bodyPr/>
          <a:lstStyle/>
          <a:p>
            <a:endParaRPr/>
          </a:p>
        </p:txBody>
      </p:sp>
      <p:sp>
        <p:nvSpPr>
          <p:cNvPr id="7" name="Text 4"/>
          <p:cNvSpPr/>
          <p:nvPr/>
        </p:nvSpPr>
        <p:spPr>
          <a:xfrm>
            <a:off x="502920" y="6528816"/>
            <a:ext cx="7315200" cy="274320"/>
          </a:xfrm>
          <a:prstGeom prst="rect">
            <a:avLst/>
          </a:prstGeom>
          <a:noFill/>
          <a:ln/>
        </p:spPr>
        <p:txBody>
          <a:bodyPr wrap="square" rtlCol="0" anchor="ctr"/>
          <a:lstStyle/>
          <a:p>
            <a:pPr marL="0" indent="0">
              <a:buNone/>
            </a:pP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endParaRPr lang="en-US" sz="900" dirty="0"/>
          </a:p>
        </p:txBody>
      </p:sp>
      <p:sp>
        <p:nvSpPr>
          <p:cNvPr id="10" name="Text 7"/>
          <p:cNvSpPr/>
          <p:nvPr/>
        </p:nvSpPr>
        <p:spPr>
          <a:xfrm>
            <a:off x="777240" y="1828800"/>
            <a:ext cx="3931920" cy="365760"/>
          </a:xfrm>
          <a:prstGeom prst="rect">
            <a:avLst/>
          </a:prstGeom>
          <a:noFill/>
          <a:ln/>
        </p:spPr>
        <p:txBody>
          <a:bodyPr wrap="square" rtlCol="0" anchor="ctr"/>
          <a:lstStyle/>
          <a:p>
            <a:pPr marL="0" indent="0">
              <a:buNone/>
            </a:pPr>
            <a:endParaRPr lang="en-US" sz="1600" dirty="0"/>
          </a:p>
        </p:txBody>
      </p:sp>
      <p:sp>
        <p:nvSpPr>
          <p:cNvPr id="12" name="Text 9"/>
          <p:cNvSpPr/>
          <p:nvPr/>
        </p:nvSpPr>
        <p:spPr>
          <a:xfrm>
            <a:off x="1078992" y="2240280"/>
            <a:ext cx="3794760" cy="594360"/>
          </a:xfrm>
          <a:prstGeom prst="rect">
            <a:avLst/>
          </a:prstGeom>
          <a:noFill/>
          <a:ln/>
        </p:spPr>
        <p:txBody>
          <a:bodyPr wrap="square" rtlCol="0" anchor="ctr"/>
          <a:lstStyle/>
          <a:p>
            <a:pPr marL="0" indent="0">
              <a:lnSpc>
                <a:spcPct val="115000"/>
              </a:lnSpc>
              <a:buNone/>
            </a:pPr>
            <a:endParaRPr lang="en-US" sz="1250" dirty="0"/>
          </a:p>
        </p:txBody>
      </p:sp>
      <p:sp>
        <p:nvSpPr>
          <p:cNvPr id="14" name="Text 11"/>
          <p:cNvSpPr/>
          <p:nvPr/>
        </p:nvSpPr>
        <p:spPr>
          <a:xfrm>
            <a:off x="1078992" y="2990088"/>
            <a:ext cx="3794760" cy="594360"/>
          </a:xfrm>
          <a:prstGeom prst="rect">
            <a:avLst/>
          </a:prstGeom>
          <a:noFill/>
          <a:ln/>
        </p:spPr>
        <p:txBody>
          <a:bodyPr wrap="square" rtlCol="0" anchor="ctr"/>
          <a:lstStyle/>
          <a:p>
            <a:pPr marL="0" indent="0">
              <a:lnSpc>
                <a:spcPct val="115000"/>
              </a:lnSpc>
              <a:buNone/>
            </a:pPr>
            <a:endParaRPr lang="en-US" sz="1250" dirty="0"/>
          </a:p>
        </p:txBody>
      </p:sp>
      <p:sp>
        <p:nvSpPr>
          <p:cNvPr id="16" name="Text 13"/>
          <p:cNvSpPr/>
          <p:nvPr/>
        </p:nvSpPr>
        <p:spPr>
          <a:xfrm>
            <a:off x="1078992" y="3739896"/>
            <a:ext cx="3794760" cy="594360"/>
          </a:xfrm>
          <a:prstGeom prst="rect">
            <a:avLst/>
          </a:prstGeom>
          <a:noFill/>
          <a:ln/>
        </p:spPr>
        <p:txBody>
          <a:bodyPr wrap="square" rtlCol="0" anchor="ctr"/>
          <a:lstStyle/>
          <a:p>
            <a:pPr marL="0" indent="0">
              <a:lnSpc>
                <a:spcPct val="115000"/>
              </a:lnSpc>
              <a:buNone/>
            </a:pPr>
            <a:endParaRPr lang="en-US" sz="1250" dirty="0"/>
          </a:p>
        </p:txBody>
      </p:sp>
      <p:sp>
        <p:nvSpPr>
          <p:cNvPr id="18" name="Text 15"/>
          <p:cNvSpPr/>
          <p:nvPr/>
        </p:nvSpPr>
        <p:spPr>
          <a:xfrm>
            <a:off x="1078992" y="4489704"/>
            <a:ext cx="3794760" cy="594360"/>
          </a:xfrm>
          <a:prstGeom prst="rect">
            <a:avLst/>
          </a:prstGeom>
          <a:noFill/>
          <a:ln/>
        </p:spPr>
        <p:txBody>
          <a:bodyPr wrap="square" rtlCol="0" anchor="ctr"/>
          <a:lstStyle/>
          <a:p>
            <a:pPr marL="0" indent="0">
              <a:lnSpc>
                <a:spcPct val="115000"/>
              </a:lnSpc>
              <a:buNone/>
            </a:pPr>
            <a:endParaRPr lang="en-US" sz="1250" dirty="0"/>
          </a:p>
        </p:txBody>
      </p:sp>
      <p:sp>
        <p:nvSpPr>
          <p:cNvPr id="20" name="Text 17"/>
          <p:cNvSpPr/>
          <p:nvPr/>
        </p:nvSpPr>
        <p:spPr>
          <a:xfrm>
            <a:off x="868680" y="5486400"/>
            <a:ext cx="3749040" cy="594360"/>
          </a:xfrm>
          <a:prstGeom prst="rect">
            <a:avLst/>
          </a:prstGeom>
          <a:noFill/>
          <a:ln/>
        </p:spPr>
        <p:txBody>
          <a:bodyPr wrap="square" rtlCol="0" anchor="ctr"/>
          <a:lstStyle/>
          <a:p>
            <a:pPr marL="0" indent="0">
              <a:buNone/>
            </a:pPr>
            <a:endParaRPr lang="en-US" sz="1150" dirty="0"/>
          </a:p>
        </p:txBody>
      </p:sp>
      <p:sp>
        <p:nvSpPr>
          <p:cNvPr id="28" name="Text 25"/>
          <p:cNvSpPr/>
          <p:nvPr/>
        </p:nvSpPr>
        <p:spPr>
          <a:xfrm>
            <a:off x="8503920" y="1783080"/>
            <a:ext cx="621792" cy="621792"/>
          </a:xfrm>
          <a:prstGeom prst="rect">
            <a:avLst/>
          </a:prstGeom>
          <a:noFill/>
          <a:ln/>
        </p:spPr>
        <p:txBody>
          <a:bodyPr wrap="square" rtlCol="0" anchor="ctr"/>
          <a:lstStyle/>
          <a:p>
            <a:pPr marL="0" indent="0" algn="ctr">
              <a:buNone/>
            </a:pPr>
            <a:endParaRPr lang="en-US" sz="1300" dirty="0"/>
          </a:p>
        </p:txBody>
      </p:sp>
      <p:sp>
        <p:nvSpPr>
          <p:cNvPr id="34" name="Text 31"/>
          <p:cNvSpPr/>
          <p:nvPr/>
        </p:nvSpPr>
        <p:spPr>
          <a:xfrm>
            <a:off x="6309360" y="3794760"/>
            <a:ext cx="621792" cy="621792"/>
          </a:xfrm>
          <a:prstGeom prst="rect">
            <a:avLst/>
          </a:prstGeom>
          <a:noFill/>
          <a:ln/>
        </p:spPr>
        <p:txBody>
          <a:bodyPr wrap="square" rtlCol="0" anchor="ctr"/>
          <a:lstStyle/>
          <a:p>
            <a:pPr marL="0" indent="0" algn="ctr">
              <a:buNone/>
            </a:pPr>
            <a:endParaRPr lang="en-US" sz="1300" dirty="0"/>
          </a:p>
        </p:txBody>
      </p:sp>
      <p:sp>
        <p:nvSpPr>
          <p:cNvPr id="36" name="Text 33"/>
          <p:cNvSpPr/>
          <p:nvPr/>
        </p:nvSpPr>
        <p:spPr>
          <a:xfrm>
            <a:off x="7772400" y="3794760"/>
            <a:ext cx="621792" cy="621792"/>
          </a:xfrm>
          <a:prstGeom prst="rect">
            <a:avLst/>
          </a:prstGeom>
          <a:noFill/>
          <a:ln/>
        </p:spPr>
        <p:txBody>
          <a:bodyPr wrap="square" rtlCol="0" anchor="ctr"/>
          <a:lstStyle/>
          <a:p>
            <a:pPr marL="0" indent="0" algn="ctr">
              <a:buNone/>
            </a:pPr>
            <a:endParaRPr lang="en-US" sz="1300" dirty="0"/>
          </a:p>
        </p:txBody>
      </p:sp>
      <p:sp>
        <p:nvSpPr>
          <p:cNvPr id="38" name="Text 35"/>
          <p:cNvSpPr/>
          <p:nvPr/>
        </p:nvSpPr>
        <p:spPr>
          <a:xfrm>
            <a:off x="9235440" y="3794760"/>
            <a:ext cx="621792" cy="621792"/>
          </a:xfrm>
          <a:prstGeom prst="rect">
            <a:avLst/>
          </a:prstGeom>
          <a:noFill/>
          <a:ln/>
        </p:spPr>
        <p:txBody>
          <a:bodyPr wrap="square" rtlCol="0" anchor="ctr"/>
          <a:lstStyle/>
          <a:p>
            <a:pPr marL="0" indent="0" algn="ctr">
              <a:buNone/>
            </a:pPr>
            <a:endParaRPr lang="en-US" sz="1300" dirty="0"/>
          </a:p>
        </p:txBody>
      </p:sp>
      <p:sp>
        <p:nvSpPr>
          <p:cNvPr id="40" name="Text 37"/>
          <p:cNvSpPr/>
          <p:nvPr/>
        </p:nvSpPr>
        <p:spPr>
          <a:xfrm>
            <a:off x="10698480" y="3794760"/>
            <a:ext cx="621792" cy="621792"/>
          </a:xfrm>
          <a:prstGeom prst="rect">
            <a:avLst/>
          </a:prstGeom>
          <a:noFill/>
          <a:ln/>
        </p:spPr>
        <p:txBody>
          <a:bodyPr wrap="square" rtlCol="0" anchor="ctr"/>
          <a:lstStyle/>
          <a:p>
            <a:pPr marL="0" indent="0" algn="ctr">
              <a:buNone/>
            </a:pPr>
            <a:endParaRPr lang="en-US" sz="1300" dirty="0"/>
          </a:p>
        </p:txBody>
      </p:sp>
      <p:sp>
        <p:nvSpPr>
          <p:cNvPr id="41" name="Text 38"/>
          <p:cNvSpPr/>
          <p:nvPr/>
        </p:nvSpPr>
        <p:spPr>
          <a:xfrm>
            <a:off x="5486400" y="4572000"/>
            <a:ext cx="6035040" cy="320040"/>
          </a:xfrm>
          <a:prstGeom prst="rect">
            <a:avLst/>
          </a:prstGeom>
          <a:noFill/>
          <a:ln/>
        </p:spPr>
        <p:txBody>
          <a:bodyPr wrap="square" rtlCol="0" anchor="ctr"/>
          <a:lstStyle/>
          <a:p>
            <a:pPr marL="0" indent="0" algn="ctr">
              <a:buNone/>
            </a:pPr>
            <a:endParaRPr lang="en-US" sz="1100" dirty="0"/>
          </a:p>
        </p:txBody>
      </p:sp>
      <p:sp>
        <p:nvSpPr>
          <p:cNvPr id="42" name="TextBox 41"/>
          <p:cNvSpPr txBox="1"/>
          <p:nvPr/>
        </p:nvSpPr>
        <p:spPr>
          <a:xfrm>
            <a:off x="419878" y="1817941"/>
            <a:ext cx="6145515" cy="3062377"/>
          </a:xfrm>
          <a:prstGeom prst="rect">
            <a:avLst/>
          </a:prstGeom>
          <a:noFill/>
        </p:spPr>
        <p:txBody>
          <a:bodyPr wrap="square">
            <a:spAutoFit/>
          </a:bodyPr>
          <a:lstStyle/>
          <a:p>
            <a:pPr>
              <a:spcAft>
                <a:spcPts val="1200"/>
              </a:spcAft>
              <a:defRPr sz="1700">
                <a:latin typeface="Aptos"/>
              </a:defRPr>
            </a:pPr>
            <a:r>
              <a:rPr dirty="0"/>
              <a:t>• Identical products from different sellers are grouped into unified entities.</a:t>
            </a:r>
          </a:p>
          <a:p>
            <a:pPr>
              <a:spcAft>
                <a:spcPts val="1200"/>
              </a:spcAft>
              <a:defRPr sz="1700">
                <a:latin typeface="Aptos"/>
              </a:defRPr>
            </a:pPr>
            <a:r>
              <a:rPr dirty="0"/>
              <a:t>• Duplicate detection becomes more effective despite variations in product titles.</a:t>
            </a:r>
          </a:p>
          <a:p>
            <a:pPr>
              <a:spcAft>
                <a:spcPts val="1200"/>
              </a:spcAft>
              <a:defRPr sz="1700">
                <a:latin typeface="Aptos"/>
              </a:defRPr>
            </a:pPr>
            <a:r>
              <a:rPr dirty="0"/>
              <a:t>• Search and product comparison become more accurate.</a:t>
            </a:r>
          </a:p>
          <a:p>
            <a:pPr>
              <a:spcAft>
                <a:spcPts val="1200"/>
              </a:spcAft>
              <a:defRPr sz="1700">
                <a:latin typeface="Aptos"/>
              </a:defRPr>
            </a:pPr>
            <a:r>
              <a:rPr dirty="0"/>
              <a:t>• Seller listings can be assigned efficiently to canonical products.</a:t>
            </a:r>
          </a:p>
          <a:p>
            <a:pPr>
              <a:spcAft>
                <a:spcPts val="1200"/>
              </a:spcAft>
              <a:defRPr sz="1700">
                <a:latin typeface="Aptos"/>
              </a:defRPr>
            </a:pPr>
            <a:r>
              <a:rPr dirty="0"/>
              <a:t>• Approximation, randomized hashing, and parallel processing support large datasets and thousands of listings.</a:t>
            </a:r>
          </a:p>
        </p:txBody>
      </p:sp>
      <p:sp>
        <p:nvSpPr>
          <p:cNvPr id="43" name="Rounded Rectangle 42"/>
          <p:cNvSpPr/>
          <p:nvPr/>
        </p:nvSpPr>
        <p:spPr>
          <a:xfrm>
            <a:off x="7498079" y="1874519"/>
            <a:ext cx="3566160" cy="777240"/>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latin typeface="Aptos"/>
              </a:defRPr>
            </a:pPr>
            <a:r>
              <a:rPr dirty="0">
                <a:solidFill>
                  <a:schemeClr val="tx1"/>
                </a:solidFill>
              </a:rPr>
              <a:t>ACCURACY</a:t>
            </a:r>
          </a:p>
          <a:p>
            <a:pPr algn="ctr">
              <a:defRPr sz="1600" b="1">
                <a:latin typeface="Aptos"/>
              </a:defRPr>
            </a:pPr>
            <a:r>
              <a:rPr dirty="0">
                <a:solidFill>
                  <a:schemeClr val="tx1"/>
                </a:solidFill>
              </a:rPr>
              <a:t>Better Matching</a:t>
            </a:r>
          </a:p>
        </p:txBody>
      </p:sp>
      <p:sp>
        <p:nvSpPr>
          <p:cNvPr id="44" name="Rounded Rectangle 43"/>
          <p:cNvSpPr/>
          <p:nvPr/>
        </p:nvSpPr>
        <p:spPr>
          <a:xfrm>
            <a:off x="7498079" y="2926079"/>
            <a:ext cx="3566160" cy="777240"/>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latin typeface="Aptos"/>
              </a:defRPr>
            </a:pPr>
            <a:r>
              <a:rPr dirty="0">
                <a:solidFill>
                  <a:schemeClr val="tx1"/>
                </a:solidFill>
              </a:rPr>
              <a:t>EFFICIENCY</a:t>
            </a:r>
          </a:p>
          <a:p>
            <a:pPr algn="ctr">
              <a:defRPr sz="1600" b="1">
                <a:latin typeface="Aptos"/>
              </a:defRPr>
            </a:pPr>
            <a:r>
              <a:rPr dirty="0">
                <a:solidFill>
                  <a:schemeClr val="tx1"/>
                </a:solidFill>
              </a:rPr>
              <a:t>Faster Detection</a:t>
            </a:r>
          </a:p>
        </p:txBody>
      </p:sp>
      <p:sp>
        <p:nvSpPr>
          <p:cNvPr id="45" name="Rounded Rectangle 44"/>
          <p:cNvSpPr/>
          <p:nvPr/>
        </p:nvSpPr>
        <p:spPr>
          <a:xfrm>
            <a:off x="7498079" y="3977639"/>
            <a:ext cx="3566160" cy="777240"/>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latin typeface="Aptos"/>
              </a:defRPr>
            </a:pPr>
            <a:r>
              <a:rPr lang="en-IN" dirty="0">
                <a:solidFill>
                  <a:schemeClr val="tx1"/>
                </a:solidFill>
              </a:rPr>
              <a:t>SCALABILITY</a:t>
            </a:r>
            <a:r>
              <a:rPr lang="en-IN" dirty="0"/>
              <a:t>TY</a:t>
            </a:r>
          </a:p>
          <a:p>
            <a:pPr algn="ctr">
              <a:defRPr sz="1600" b="1">
                <a:latin typeface="Aptos"/>
              </a:defRPr>
            </a:pPr>
            <a:r>
              <a:rPr dirty="0">
                <a:solidFill>
                  <a:schemeClr val="tx1"/>
                </a:solidFill>
              </a:rPr>
              <a:t>Large Datasets</a:t>
            </a:r>
          </a:p>
        </p:txBody>
      </p:sp>
      <p:sp>
        <p:nvSpPr>
          <p:cNvPr id="46" name="TextBox 45"/>
          <p:cNvSpPr txBox="1"/>
          <p:nvPr/>
        </p:nvSpPr>
        <p:spPr>
          <a:xfrm>
            <a:off x="731520" y="6400800"/>
            <a:ext cx="10789920" cy="228600"/>
          </a:xfrm>
          <a:prstGeom prst="rect">
            <a:avLst/>
          </a:prstGeom>
          <a:noFill/>
        </p:spPr>
        <p:txBody>
          <a:bodyPr wrap="none">
            <a:spAutoFit/>
          </a:bodyPr>
          <a:lstStyle/>
          <a:p>
            <a:pPr>
              <a:defRPr sz="850">
                <a:latin typeface="Aptos"/>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CADCFC"/>
          </a:solidFill>
          <a:ln/>
        </p:spPr>
        <p:txBody>
          <a:bodyPr/>
          <a:lstStyle/>
          <a:p>
            <a:endParaRPr/>
          </a:p>
        </p:txBody>
      </p:sp>
      <p:pic>
        <p:nvPicPr>
          <p:cNvPr id="3" name="Image 0" descr="/home/claude/proj/icons/sitemap.png"/>
          <p:cNvPicPr>
            <a:picLocks noChangeAspect="1"/>
          </p:cNvPicPr>
          <p:nvPr/>
        </p:nvPicPr>
        <p:blipFill>
          <a:blip r:embed="rId3"/>
          <a:stretch>
            <a:fillRect/>
          </a:stretch>
        </p:blipFill>
        <p:spPr>
          <a:xfrm>
            <a:off x="630479" y="584759"/>
            <a:ext cx="311810" cy="311810"/>
          </a:xfrm>
          <a:prstGeom prst="rect">
            <a:avLst/>
          </a:prstGeom>
        </p:spPr>
      </p:pic>
      <p:sp>
        <p:nvSpPr>
          <p:cNvPr id="4" name="Text 1"/>
          <p:cNvSpPr/>
          <p:nvPr/>
        </p:nvSpPr>
        <p:spPr>
          <a:xfrm>
            <a:off x="1234440" y="635737"/>
            <a:ext cx="7315200" cy="274320"/>
          </a:xfrm>
          <a:prstGeom prst="rect">
            <a:avLst/>
          </a:prstGeom>
          <a:noFill/>
          <a:ln/>
        </p:spPr>
        <p:txBody>
          <a:bodyPr wrap="square" rtlCol="0" anchor="ctr"/>
          <a:lstStyle/>
          <a:p>
            <a:pPr marL="0" indent="0">
              <a:buNone/>
              <a:defRPr sz="2600" b="1">
                <a:latin typeface="Aptos Display"/>
              </a:defRPr>
            </a:pPr>
            <a:r>
              <a:rPr dirty="0"/>
              <a:t>CONCLUSION</a:t>
            </a:r>
            <a:endParaRPr lang="en-US" sz="1200" dirty="0"/>
          </a:p>
        </p:txBody>
      </p:sp>
      <p:sp>
        <p:nvSpPr>
          <p:cNvPr id="5" name="Text 2"/>
          <p:cNvSpPr/>
          <p:nvPr/>
        </p:nvSpPr>
        <p:spPr>
          <a:xfrm>
            <a:off x="1234440" y="640080"/>
            <a:ext cx="9601200" cy="502920"/>
          </a:xfrm>
          <a:prstGeom prst="rect">
            <a:avLst/>
          </a:prstGeom>
          <a:noFill/>
          <a:ln/>
        </p:spPr>
        <p:txBody>
          <a:bodyPr wrap="square" rtlCol="0" anchor="ctr"/>
          <a:lstStyle/>
          <a:p>
            <a:pPr marL="0" indent="0">
              <a:buNone/>
              <a:defRPr sz="1200" b="1">
                <a:latin typeface="Aptos"/>
              </a:defRPr>
            </a:pPr>
            <a:endParaRPr lang="en-US" sz="3000" dirty="0"/>
          </a:p>
        </p:txBody>
      </p:sp>
      <p:sp>
        <p:nvSpPr>
          <p:cNvPr id="6" name="Shape 3"/>
          <p:cNvSpPr/>
          <p:nvPr/>
        </p:nvSpPr>
        <p:spPr>
          <a:xfrm>
            <a:off x="502920" y="1298448"/>
            <a:ext cx="11183112" cy="0"/>
          </a:xfrm>
          <a:prstGeom prst="line">
            <a:avLst/>
          </a:prstGeom>
          <a:noFill/>
          <a:ln w="15875">
            <a:solidFill>
              <a:srgbClr val="E3E8F2"/>
            </a:solidFill>
            <a:prstDash val="solid"/>
          </a:ln>
        </p:spPr>
        <p:txBody>
          <a:bodyPr/>
          <a:lstStyle/>
          <a:p>
            <a:endParaRPr/>
          </a:p>
        </p:txBody>
      </p:sp>
      <p:sp>
        <p:nvSpPr>
          <p:cNvPr id="7" name="Text 4"/>
          <p:cNvSpPr/>
          <p:nvPr/>
        </p:nvSpPr>
        <p:spPr>
          <a:xfrm>
            <a:off x="502920" y="6528816"/>
            <a:ext cx="7315200" cy="274320"/>
          </a:xfrm>
          <a:prstGeom prst="rect">
            <a:avLst/>
          </a:prstGeom>
          <a:noFill/>
          <a:ln/>
        </p:spPr>
        <p:txBody>
          <a:bodyPr wrap="square" rtlCol="0" anchor="ctr"/>
          <a:lstStyle/>
          <a:p>
            <a:pPr marL="0" indent="0">
              <a:buNone/>
            </a:pPr>
            <a:endParaRPr lang="en-US" sz="900" dirty="0"/>
          </a:p>
        </p:txBody>
      </p:sp>
      <p:sp>
        <p:nvSpPr>
          <p:cNvPr id="8" name="Text 5"/>
          <p:cNvSpPr/>
          <p:nvPr/>
        </p:nvSpPr>
        <p:spPr>
          <a:xfrm>
            <a:off x="11521440" y="6528816"/>
            <a:ext cx="365760" cy="274320"/>
          </a:xfrm>
          <a:prstGeom prst="rect">
            <a:avLst/>
          </a:prstGeom>
          <a:noFill/>
          <a:ln/>
        </p:spPr>
        <p:txBody>
          <a:bodyPr wrap="square" rtlCol="0" anchor="ctr"/>
          <a:lstStyle/>
          <a:p>
            <a:pPr marL="0" indent="0" algn="r">
              <a:buNone/>
            </a:pPr>
            <a:endParaRPr lang="en-US" sz="900" dirty="0"/>
          </a:p>
        </p:txBody>
      </p:sp>
      <p:sp>
        <p:nvSpPr>
          <p:cNvPr id="10" name="Text 7"/>
          <p:cNvSpPr/>
          <p:nvPr/>
        </p:nvSpPr>
        <p:spPr>
          <a:xfrm>
            <a:off x="777240" y="1828800"/>
            <a:ext cx="3931920" cy="365760"/>
          </a:xfrm>
          <a:prstGeom prst="rect">
            <a:avLst/>
          </a:prstGeom>
          <a:noFill/>
          <a:ln/>
        </p:spPr>
        <p:txBody>
          <a:bodyPr wrap="square" rtlCol="0" anchor="ctr"/>
          <a:lstStyle/>
          <a:p>
            <a:pPr marL="0" indent="0">
              <a:buNone/>
            </a:pPr>
            <a:endParaRPr lang="en-US" sz="1600" dirty="0"/>
          </a:p>
        </p:txBody>
      </p:sp>
      <p:sp>
        <p:nvSpPr>
          <p:cNvPr id="12" name="Text 9"/>
          <p:cNvSpPr/>
          <p:nvPr/>
        </p:nvSpPr>
        <p:spPr>
          <a:xfrm>
            <a:off x="1078992" y="2240280"/>
            <a:ext cx="3794760" cy="594360"/>
          </a:xfrm>
          <a:prstGeom prst="rect">
            <a:avLst/>
          </a:prstGeom>
          <a:noFill/>
          <a:ln/>
        </p:spPr>
        <p:txBody>
          <a:bodyPr wrap="square" rtlCol="0" anchor="ctr"/>
          <a:lstStyle/>
          <a:p>
            <a:pPr marL="0" indent="0">
              <a:lnSpc>
                <a:spcPct val="115000"/>
              </a:lnSpc>
              <a:buNone/>
            </a:pPr>
            <a:endParaRPr lang="en-US" sz="1250" dirty="0"/>
          </a:p>
        </p:txBody>
      </p:sp>
      <p:sp>
        <p:nvSpPr>
          <p:cNvPr id="14" name="Text 11"/>
          <p:cNvSpPr/>
          <p:nvPr/>
        </p:nvSpPr>
        <p:spPr>
          <a:xfrm>
            <a:off x="1078992" y="2990088"/>
            <a:ext cx="3794760" cy="594360"/>
          </a:xfrm>
          <a:prstGeom prst="rect">
            <a:avLst/>
          </a:prstGeom>
          <a:noFill/>
          <a:ln/>
        </p:spPr>
        <p:txBody>
          <a:bodyPr wrap="square" rtlCol="0" anchor="ctr"/>
          <a:lstStyle/>
          <a:p>
            <a:pPr marL="0" indent="0">
              <a:lnSpc>
                <a:spcPct val="115000"/>
              </a:lnSpc>
              <a:buNone/>
            </a:pPr>
            <a:endParaRPr lang="en-US" sz="1250" dirty="0"/>
          </a:p>
        </p:txBody>
      </p:sp>
      <p:sp>
        <p:nvSpPr>
          <p:cNvPr id="16" name="Text 13"/>
          <p:cNvSpPr/>
          <p:nvPr/>
        </p:nvSpPr>
        <p:spPr>
          <a:xfrm>
            <a:off x="1078992" y="3739896"/>
            <a:ext cx="3794760" cy="594360"/>
          </a:xfrm>
          <a:prstGeom prst="rect">
            <a:avLst/>
          </a:prstGeom>
          <a:noFill/>
          <a:ln/>
        </p:spPr>
        <p:txBody>
          <a:bodyPr wrap="square" rtlCol="0" anchor="ctr"/>
          <a:lstStyle/>
          <a:p>
            <a:pPr marL="0" indent="0">
              <a:lnSpc>
                <a:spcPct val="115000"/>
              </a:lnSpc>
              <a:buNone/>
            </a:pPr>
            <a:endParaRPr lang="en-US" sz="1250" dirty="0"/>
          </a:p>
        </p:txBody>
      </p:sp>
      <p:sp>
        <p:nvSpPr>
          <p:cNvPr id="18" name="Text 15"/>
          <p:cNvSpPr/>
          <p:nvPr/>
        </p:nvSpPr>
        <p:spPr>
          <a:xfrm>
            <a:off x="1078992" y="4489704"/>
            <a:ext cx="3794760" cy="594360"/>
          </a:xfrm>
          <a:prstGeom prst="rect">
            <a:avLst/>
          </a:prstGeom>
          <a:noFill/>
          <a:ln/>
        </p:spPr>
        <p:txBody>
          <a:bodyPr wrap="square" rtlCol="0" anchor="ctr"/>
          <a:lstStyle/>
          <a:p>
            <a:pPr marL="0" indent="0">
              <a:lnSpc>
                <a:spcPct val="115000"/>
              </a:lnSpc>
              <a:buNone/>
            </a:pPr>
            <a:endParaRPr lang="en-US" sz="1250" dirty="0"/>
          </a:p>
        </p:txBody>
      </p:sp>
      <p:sp>
        <p:nvSpPr>
          <p:cNvPr id="20" name="Text 17"/>
          <p:cNvSpPr/>
          <p:nvPr/>
        </p:nvSpPr>
        <p:spPr>
          <a:xfrm>
            <a:off x="868680" y="5486400"/>
            <a:ext cx="3749040" cy="594360"/>
          </a:xfrm>
          <a:prstGeom prst="rect">
            <a:avLst/>
          </a:prstGeom>
          <a:noFill/>
          <a:ln/>
        </p:spPr>
        <p:txBody>
          <a:bodyPr wrap="square" rtlCol="0" anchor="ctr"/>
          <a:lstStyle/>
          <a:p>
            <a:pPr marL="0" indent="0">
              <a:buNone/>
            </a:pPr>
            <a:endParaRPr lang="en-US" sz="1150" dirty="0"/>
          </a:p>
        </p:txBody>
      </p:sp>
      <p:sp>
        <p:nvSpPr>
          <p:cNvPr id="22" name="Text 19"/>
          <p:cNvSpPr/>
          <p:nvPr/>
        </p:nvSpPr>
        <p:spPr>
          <a:xfrm>
            <a:off x="8229600" y="1874520"/>
            <a:ext cx="731520" cy="502920"/>
          </a:xfrm>
          <a:prstGeom prst="rect">
            <a:avLst/>
          </a:prstGeom>
          <a:noFill/>
          <a:ln/>
        </p:spPr>
        <p:txBody>
          <a:bodyPr wrap="square" rtlCol="0" anchor="ctr"/>
          <a:lstStyle/>
          <a:p>
            <a:pPr marL="0" indent="0" algn="ctr">
              <a:buNone/>
            </a:pPr>
            <a:endParaRPr lang="en-US" sz="1300" dirty="0"/>
          </a:p>
        </p:txBody>
      </p:sp>
      <p:sp>
        <p:nvSpPr>
          <p:cNvPr id="24" name="Text 21"/>
          <p:cNvSpPr/>
          <p:nvPr/>
        </p:nvSpPr>
        <p:spPr>
          <a:xfrm>
            <a:off x="8961120" y="1874520"/>
            <a:ext cx="731520" cy="502920"/>
          </a:xfrm>
          <a:prstGeom prst="rect">
            <a:avLst/>
          </a:prstGeom>
          <a:noFill/>
          <a:ln/>
        </p:spPr>
        <p:txBody>
          <a:bodyPr wrap="square" rtlCol="0" anchor="ctr"/>
          <a:lstStyle/>
          <a:p>
            <a:pPr marL="0" indent="0" algn="ctr">
              <a:buNone/>
            </a:pPr>
            <a:endParaRPr lang="en-US" sz="1300" dirty="0"/>
          </a:p>
        </p:txBody>
      </p:sp>
      <p:sp>
        <p:nvSpPr>
          <p:cNvPr id="26" name="Text 23"/>
          <p:cNvSpPr/>
          <p:nvPr/>
        </p:nvSpPr>
        <p:spPr>
          <a:xfrm>
            <a:off x="5943600" y="3246120"/>
            <a:ext cx="685800" cy="502920"/>
          </a:xfrm>
          <a:prstGeom prst="rect">
            <a:avLst/>
          </a:prstGeom>
          <a:noFill/>
          <a:ln/>
        </p:spPr>
        <p:txBody>
          <a:bodyPr wrap="square" rtlCol="0" anchor="ctr"/>
          <a:lstStyle/>
          <a:p>
            <a:pPr marL="0" indent="0" algn="ctr">
              <a:buNone/>
            </a:pPr>
            <a:endParaRPr lang="en-US" sz="1300" dirty="0"/>
          </a:p>
        </p:txBody>
      </p:sp>
      <p:sp>
        <p:nvSpPr>
          <p:cNvPr id="28" name="Text 25"/>
          <p:cNvSpPr/>
          <p:nvPr/>
        </p:nvSpPr>
        <p:spPr>
          <a:xfrm>
            <a:off x="6629400" y="3246120"/>
            <a:ext cx="685800" cy="502920"/>
          </a:xfrm>
          <a:prstGeom prst="rect">
            <a:avLst/>
          </a:prstGeom>
          <a:noFill/>
          <a:ln/>
        </p:spPr>
        <p:txBody>
          <a:bodyPr wrap="square" rtlCol="0" anchor="ctr"/>
          <a:lstStyle/>
          <a:p>
            <a:pPr marL="0" indent="0" algn="ctr">
              <a:buNone/>
            </a:pPr>
            <a:endParaRPr lang="en-US" sz="1300" dirty="0"/>
          </a:p>
        </p:txBody>
      </p:sp>
      <p:sp>
        <p:nvSpPr>
          <p:cNvPr id="30" name="Text 27"/>
          <p:cNvSpPr/>
          <p:nvPr/>
        </p:nvSpPr>
        <p:spPr>
          <a:xfrm>
            <a:off x="8366760" y="3246120"/>
            <a:ext cx="685800" cy="502920"/>
          </a:xfrm>
          <a:prstGeom prst="rect">
            <a:avLst/>
          </a:prstGeom>
          <a:noFill/>
          <a:ln/>
        </p:spPr>
        <p:txBody>
          <a:bodyPr wrap="square" rtlCol="0" anchor="ctr"/>
          <a:lstStyle/>
          <a:p>
            <a:pPr marL="0" indent="0" algn="ctr">
              <a:buNone/>
            </a:pPr>
            <a:endParaRPr lang="en-US" sz="1300" dirty="0"/>
          </a:p>
        </p:txBody>
      </p:sp>
      <p:sp>
        <p:nvSpPr>
          <p:cNvPr id="32" name="Text 29"/>
          <p:cNvSpPr/>
          <p:nvPr/>
        </p:nvSpPr>
        <p:spPr>
          <a:xfrm>
            <a:off x="9052560" y="3246120"/>
            <a:ext cx="685800" cy="502920"/>
          </a:xfrm>
          <a:prstGeom prst="rect">
            <a:avLst/>
          </a:prstGeom>
          <a:noFill/>
          <a:ln/>
        </p:spPr>
        <p:txBody>
          <a:bodyPr wrap="square" rtlCol="0" anchor="ctr"/>
          <a:lstStyle/>
          <a:p>
            <a:pPr marL="0" indent="0" algn="ctr">
              <a:buNone/>
            </a:pPr>
            <a:endParaRPr lang="en-US" sz="1300" dirty="0"/>
          </a:p>
        </p:txBody>
      </p:sp>
      <p:sp>
        <p:nvSpPr>
          <p:cNvPr id="34" name="Text 31"/>
          <p:cNvSpPr/>
          <p:nvPr/>
        </p:nvSpPr>
        <p:spPr>
          <a:xfrm>
            <a:off x="10789920" y="3246120"/>
            <a:ext cx="685800" cy="502920"/>
          </a:xfrm>
          <a:prstGeom prst="rect">
            <a:avLst/>
          </a:prstGeom>
          <a:noFill/>
          <a:ln/>
        </p:spPr>
        <p:txBody>
          <a:bodyPr wrap="square" rtlCol="0" anchor="ctr"/>
          <a:lstStyle/>
          <a:p>
            <a:pPr marL="0" indent="0" algn="ctr">
              <a:buNone/>
            </a:pPr>
            <a:endParaRPr lang="en-US" sz="1300" dirty="0"/>
          </a:p>
        </p:txBody>
      </p:sp>
      <p:sp>
        <p:nvSpPr>
          <p:cNvPr id="36" name="Text 33"/>
          <p:cNvSpPr/>
          <p:nvPr/>
        </p:nvSpPr>
        <p:spPr>
          <a:xfrm>
            <a:off x="11475720" y="3246120"/>
            <a:ext cx="685800" cy="502920"/>
          </a:xfrm>
          <a:prstGeom prst="rect">
            <a:avLst/>
          </a:prstGeom>
          <a:noFill/>
          <a:ln/>
        </p:spPr>
        <p:txBody>
          <a:bodyPr wrap="square" rtlCol="0" anchor="ctr"/>
          <a:lstStyle/>
          <a:p>
            <a:pPr marL="0" indent="0" algn="ctr">
              <a:buNone/>
            </a:pPr>
            <a:endParaRPr lang="en-US" sz="1300" dirty="0"/>
          </a:p>
        </p:txBody>
      </p:sp>
      <p:sp>
        <p:nvSpPr>
          <p:cNvPr id="40" name="Text 37"/>
          <p:cNvSpPr/>
          <p:nvPr/>
        </p:nvSpPr>
        <p:spPr>
          <a:xfrm>
            <a:off x="5486400" y="4114800"/>
            <a:ext cx="6309360" cy="365760"/>
          </a:xfrm>
          <a:prstGeom prst="rect">
            <a:avLst/>
          </a:prstGeom>
          <a:noFill/>
          <a:ln/>
        </p:spPr>
        <p:txBody>
          <a:bodyPr wrap="square" rtlCol="0" anchor="ctr"/>
          <a:lstStyle/>
          <a:p>
            <a:pPr marL="0" indent="0" algn="ctr">
              <a:buNone/>
            </a:pPr>
            <a:endParaRPr lang="en-US" sz="1100" dirty="0"/>
          </a:p>
        </p:txBody>
      </p:sp>
      <p:sp>
        <p:nvSpPr>
          <p:cNvPr id="41" name="TextBox 40"/>
          <p:cNvSpPr txBox="1"/>
          <p:nvPr/>
        </p:nvSpPr>
        <p:spPr>
          <a:xfrm>
            <a:off x="307910" y="1737817"/>
            <a:ext cx="9153331" cy="2800767"/>
          </a:xfrm>
          <a:prstGeom prst="rect">
            <a:avLst/>
          </a:prstGeom>
          <a:noFill/>
        </p:spPr>
        <p:txBody>
          <a:bodyPr wrap="square">
            <a:spAutoFit/>
          </a:bodyPr>
          <a:lstStyle/>
          <a:p>
            <a:pPr>
              <a:spcAft>
                <a:spcPts val="1200"/>
              </a:spcAft>
              <a:defRPr sz="1700">
                <a:latin typeface="Aptos"/>
              </a:defRPr>
            </a:pPr>
            <a:r>
              <a:rPr dirty="0"/>
              <a:t>• The proposed platform applies </a:t>
            </a:r>
            <a:r>
              <a:rPr lang="en-IN" dirty="0"/>
              <a:t>advanced algorithmic concepts </a:t>
            </a:r>
            <a:r>
              <a:rPr dirty="0"/>
              <a:t>to a practical e-commerce entity-resolution problem.</a:t>
            </a:r>
          </a:p>
          <a:p>
            <a:pPr>
              <a:spcAft>
                <a:spcPts val="1200"/>
              </a:spcAft>
              <a:defRPr sz="1700">
                <a:latin typeface="Aptos"/>
              </a:defRPr>
            </a:pPr>
            <a:r>
              <a:rPr dirty="0"/>
              <a:t>• String algorithms address matching and similarity, while Dynamic Programming handles variations in names.</a:t>
            </a:r>
          </a:p>
          <a:p>
            <a:pPr>
              <a:spcAft>
                <a:spcPts val="1200"/>
              </a:spcAft>
              <a:defRPr sz="1700">
                <a:latin typeface="Aptos"/>
              </a:defRPr>
            </a:pPr>
            <a:r>
              <a:rPr dirty="0"/>
              <a:t>• Maximum Flow models the assignment of seller listings to canonical products.</a:t>
            </a:r>
          </a:p>
          <a:p>
            <a:pPr>
              <a:spcAft>
                <a:spcPts val="1200"/>
              </a:spcAft>
              <a:defRPr sz="1700">
                <a:latin typeface="Aptos"/>
              </a:defRPr>
            </a:pPr>
            <a:r>
              <a:rPr dirty="0"/>
              <a:t>• Greedy approximation, randomized hashing, and parallel processing improve scalability.</a:t>
            </a:r>
          </a:p>
          <a:p>
            <a:pPr>
              <a:spcAft>
                <a:spcPts val="1200"/>
              </a:spcAft>
              <a:defRPr sz="1700">
                <a:latin typeface="Aptos"/>
              </a:defRPr>
            </a:pPr>
            <a:r>
              <a:rPr dirty="0"/>
              <a:t>• Overall, the system provides an efficient, scalable, and accurate approach to product entity resolution.</a:t>
            </a:r>
          </a:p>
        </p:txBody>
      </p:sp>
      <p:sp>
        <p:nvSpPr>
          <p:cNvPr id="42" name="TextBox 41"/>
          <p:cNvSpPr txBox="1"/>
          <p:nvPr/>
        </p:nvSpPr>
        <p:spPr>
          <a:xfrm>
            <a:off x="731520" y="6400800"/>
            <a:ext cx="10789920" cy="228600"/>
          </a:xfrm>
          <a:prstGeom prst="rect">
            <a:avLst/>
          </a:prstGeom>
          <a:noFill/>
        </p:spPr>
        <p:txBody>
          <a:bodyPr wrap="none">
            <a:spAutoFit/>
          </a:bodyPr>
          <a:lstStyle/>
          <a:p>
            <a:pPr>
              <a:defRPr sz="850">
                <a:latin typeface="Aptos"/>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929</Words>
  <Application>Microsoft Office PowerPoint</Application>
  <PresentationFormat>Widescreen</PresentationFormat>
  <Paragraphs>92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 P</cp:lastModifiedBy>
  <cp:revision>23</cp:revision>
  <dcterms:created xsi:type="dcterms:W3CDTF">2026-08-20T06:45:13Z</dcterms:created>
  <dcterms:modified xsi:type="dcterms:W3CDTF">2026-10-01T06:35:16Z</dcterms:modified>
</cp:coreProperties>
</file>